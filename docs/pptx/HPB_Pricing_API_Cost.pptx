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 Content Studio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価格・APIコスト検証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Pro月額¥980の妥当性 / モデル別コスト比較 / 画像生成追加の影響分析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743200" cy="1463040"/>
          </a:xfrm>
          <a:prstGeom prst="rect">
            <a:avLst/>
          </a:prstGeom>
          <a:solidFill>
            <a:srgbClr val="1E3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Pro月額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¥980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テスト期間確定価格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377440"/>
            <a:ext cx="2743200" cy="1463040"/>
          </a:xfrm>
          <a:prstGeom prst="rect">
            <a:avLst/>
          </a:prstGeom>
          <a:solidFill>
            <a:srgbClr val="1E3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3756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比較モデル数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30906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3モデル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Haiku / Sonnet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377440"/>
            <a:ext cx="2743200" cy="1463040"/>
          </a:xfrm>
          <a:prstGeom prst="rect">
            <a:avLst/>
          </a:prstGeom>
          <a:solidFill>
            <a:srgbClr val="1E3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0906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Nanobanana 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Flash Image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480560"/>
            <a:ext cx="1188720" cy="347472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80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4480560"/>
            <a:ext cx="1188720" cy="347472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4480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2026-03-05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4480560"/>
            <a:ext cx="1188720" cy="347472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4480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ドラフト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比較対象モデル一覧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テキスト生成モデル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7432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89888"/>
            <a:ext cx="2743200" cy="45720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898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2.0 Flash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0" y="1481328"/>
            <a:ext cx="731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4813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193852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入力単価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938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$0.10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21396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¥0.000015/tok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23500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出力単価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23500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$0.40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" y="2551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¥0.00006/tok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最安。現行技術設計書で採用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1389888"/>
            <a:ext cx="27432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1389888"/>
            <a:ext cx="2743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3898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4.5 Haiku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1481328"/>
            <a:ext cx="731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4813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27832" y="193852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入力単価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69080" y="1938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27832" y="21396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¥0.00015/tok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27832" y="23500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出力単価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69080" y="23500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$5.00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27832" y="2551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¥0.00075/tok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27832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Geminiの10倍。Claude最安・高速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1389888"/>
            <a:ext cx="27432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5C3A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1389888"/>
            <a:ext cx="2743200" cy="457200"/>
          </a:xfrm>
          <a:prstGeom prst="rect">
            <a:avLst/>
          </a:prstGeom>
          <a:solidFill>
            <a:srgbClr val="5C3A8C"/>
          </a:solidFill>
          <a:ln w="12700">
            <a:solidFill>
              <a:srgbClr val="5C3A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13898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Sonnet 4.6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955280" y="1481328"/>
            <a:ext cx="731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14813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08192" y="193852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入力単価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9440" y="1938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$3.00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08192" y="21396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¥0.00045/tok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08192" y="23500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出力単価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23500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$15.00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08192" y="2551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¥0.00225/tok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08192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最高品質。Geminiの30倍超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出力コスト倍率（Gemini比）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74320" y="3822192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468880" y="3877056"/>
            <a:ext cx="457200" cy="22860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0" y="3822192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1倍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74320" y="420624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4.5 Haiku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68880" y="4261104"/>
            <a:ext cx="27432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0" y="4206240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12.5倍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74320" y="4590288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468880" y="4645152"/>
            <a:ext cx="6858000" cy="22860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18320" y="4590288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37.5倍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コンテンツタイプ別 APIコスト比較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 COST COMPARISON (PER GENERATION)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347472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コンテンツタイプ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31720" y="1005840"/>
            <a:ext cx="1325880" cy="347472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0058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HPB上限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03320" y="1005840"/>
            <a:ext cx="1600200" cy="347472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0058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49240" y="1005840"/>
            <a:ext cx="1600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0058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4.5 Haiku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95160" y="1005840"/>
            <a:ext cx="1874520" cy="347472"/>
          </a:xfrm>
          <a:prstGeom prst="rect">
            <a:avLst/>
          </a:prstGeom>
          <a:solidFill>
            <a:srgbClr val="5C3A8C"/>
          </a:solidFill>
          <a:ln w="12700">
            <a:solidFill>
              <a:srgbClr val="5C3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1005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353312"/>
            <a:ext cx="20116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353312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サロンキャッチコピー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31720" y="1353312"/>
            <a:ext cx="13258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86584" y="1353312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45文字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03320" y="1353312"/>
            <a:ext cx="16002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58184" y="1353312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¥0.03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49240" y="1353312"/>
            <a:ext cx="16002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353312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¥0.32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95160" y="1353312"/>
            <a:ext cx="18745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0024" y="1353312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¥0.95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1700784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1700784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サロン紹介文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31720" y="1700784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86584" y="1700784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500文字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703320" y="1700784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58184" y="1700784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¥0.07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49240" y="1700784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04104" y="1700784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¥0.79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95160" y="1700784"/>
            <a:ext cx="1874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50024" y="1700784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¥2.36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2048256"/>
            <a:ext cx="20116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2048256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スタイリストプロフィール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331720" y="2048256"/>
            <a:ext cx="13258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86584" y="2048256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200文字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703320" y="2048256"/>
            <a:ext cx="16002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58184" y="2048256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¥0.04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49240" y="2048256"/>
            <a:ext cx="16002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04104" y="2048256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¥0.49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995160" y="2048256"/>
            <a:ext cx="18745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50024" y="2048256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¥1.46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2395728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239572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スタイル説明文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331720" y="2395728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86584" y="2395728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70文字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703320" y="2395728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58184" y="2395728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¥0.03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349240" y="2395728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04104" y="2395728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¥0.32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995160" y="2395728"/>
            <a:ext cx="1874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50024" y="2395728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¥0.95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4320" y="2743200"/>
            <a:ext cx="2011680" cy="347472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" y="274320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ブログ記事 ⚡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331720" y="2743200"/>
            <a:ext cx="1325880" cy="347472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86584" y="2743200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10,000文字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703320" y="2743200"/>
            <a:ext cx="1600200" cy="347472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58184" y="2743200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¥0.30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349240" y="2743200"/>
            <a:ext cx="1600200" cy="347472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04104" y="2743200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¥3.65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995160" y="2743200"/>
            <a:ext cx="1874520" cy="347472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50024" y="2743200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¥10.94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274320" y="3090672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9184" y="3090672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クーポン説明文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331720" y="3090672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86584" y="3090672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200文字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703320" y="3090672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58184" y="3090672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¥0.04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349240" y="3090672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04104" y="3090672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¥0.49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995160" y="3090672"/>
            <a:ext cx="1874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50024" y="3090672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¥1.46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274320" y="3438144"/>
            <a:ext cx="20116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9184" y="3438144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口コミ返信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331720" y="3438144"/>
            <a:ext cx="13258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386584" y="3438144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可変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3703320" y="3438144"/>
            <a:ext cx="16002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58184" y="3438144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¥0.05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5349240" y="3438144"/>
            <a:ext cx="16002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04104" y="3438144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¥0.60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6995160" y="3438144"/>
            <a:ext cx="18745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50024" y="3438144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¥1.80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274320" y="3785616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9184" y="3785616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メニュー説明文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2331720" y="3785616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386584" y="3785616"/>
            <a:ext cx="1216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可変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3703320" y="3785616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758184" y="3785616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¥0.04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5349240" y="3785616"/>
            <a:ext cx="1600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404104" y="3785616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¥0.49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6995160" y="3785616"/>
            <a:ext cx="1874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050024" y="3785616"/>
            <a:ext cx="1764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¥1.46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solidFill>
            <a:srgbClr val="FFF8E6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ブログ記事は要注意: </a:t>
            </a:r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出力トークンが最多（約4,500tok）のため、モデル間のコスト差が最大。Gemini ¥0.30 vs Sonnet ¥10.94 で </a:t>
            </a:r>
            <a:pPr indent="0" marL="0">
              <a:buNone/>
            </a:pPr>
            <a:r>
              <a:rPr lang="en-US" sz="1400" b="1" dirty="0">
                <a:solidFill>
                  <a:srgbClr val="E86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約36倍</a:t>
            </a:r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の差が生じる。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ユーザータイプ別 月間コスト試算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BY USER TYPE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Freeユーザー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316736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月30回上限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8229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72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利用内容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6012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4592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3172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847088"/>
            <a:ext cx="8229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184708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短文生成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97280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¥0.80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55648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55648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¥9.60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14016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14016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6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¥28.60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167128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216712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ブログ記事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97280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¥1.50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55648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55648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¥18.25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14016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14016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6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¥54.70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487168"/>
            <a:ext cx="8229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248716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チャット修正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97280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¥1.50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755648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5648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¥16.95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14016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14016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6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¥50.70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2807208"/>
            <a:ext cx="82296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280720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月間合計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97280" y="2807208"/>
            <a:ext cx="630936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280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¥3.80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755648" y="2807208"/>
            <a:ext cx="630936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55648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¥44.80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414016" y="2807208"/>
            <a:ext cx="630936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14016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¥134.00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0" y="1005840"/>
            <a:ext cx="27889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0" y="1005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Proライト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200400" y="1316736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月50〜100回程度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0" y="1572768"/>
            <a:ext cx="8229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0" y="1572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利用内容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88620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8620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57200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25780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5780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00400" y="1847088"/>
            <a:ext cx="8229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36976" y="184708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短文生成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023360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23360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¥1.60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681728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81728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¥19.20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340096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40096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6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¥57.20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200400" y="2167128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36976" y="216712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ブログ記事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023360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23360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¥3.00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681728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81728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¥36.50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340096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40096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6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¥109.40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200400" y="2487168"/>
            <a:ext cx="8229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36976" y="248716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チャット修正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023360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023360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¥5.00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681728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81728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¥56.50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340096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40096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6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¥169.00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200400" y="2807208"/>
            <a:ext cx="8229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00400" y="280720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月間合計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023360" y="2807208"/>
            <a:ext cx="630936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023360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¥9.60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681728" y="2807208"/>
            <a:ext cx="630936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81728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¥112.20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340096" y="2807208"/>
            <a:ext cx="630936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40096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¥335.60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6126480" y="1005840"/>
            <a:ext cx="2788920" cy="54864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26480" y="1005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Proヘビー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6126480" y="1316736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フル活用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6126480" y="1572768"/>
            <a:ext cx="8229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126480" y="1572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利用内容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681228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81228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49808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49808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8183880" y="1572768"/>
            <a:ext cx="658368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183880" y="15727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126480" y="1847088"/>
            <a:ext cx="8229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163056" y="184708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短文生成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6949440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949440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¥4.00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7607808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07808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¥48.00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8266176" y="184708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266176" y="184708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6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¥143.00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6126480" y="2167128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163056" y="216712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ブログ記事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6949440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949440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¥6.00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7607808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607808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¥73.00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8266176" y="2167128"/>
            <a:ext cx="630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266176" y="216712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6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¥218.80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6126480" y="2487168"/>
            <a:ext cx="8229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163056" y="248716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チャット修正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6949440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949440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¥10.00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7607808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607808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¥113.00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8266176" y="2487168"/>
            <a:ext cx="630936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266176" y="2487168"/>
            <a:ext cx="630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6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¥338.00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6126480" y="2807208"/>
            <a:ext cx="822960" cy="41148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126480" y="280720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月間合計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6949440" y="2807208"/>
            <a:ext cx="630936" cy="41148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949440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¥20.00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7607808" y="2807208"/>
            <a:ext cx="630936" cy="41148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607808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¥234.00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8266176" y="2807208"/>
            <a:ext cx="630936" cy="41148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266176" y="2807208"/>
            <a:ext cx="630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¥699.80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274320" y="3337560"/>
            <a:ext cx="85953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74320" y="3337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画像生成追加（Nanobanana 2 / 1K × 20枚 = ¥201）をProヘビーに加算した場合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274320" y="3611880"/>
            <a:ext cx="292608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74320" y="3611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3246120" y="3611880"/>
            <a:ext cx="123444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246120" y="36118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テキストAPI費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4526280" y="3611880"/>
            <a:ext cx="100584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526280" y="3611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画像API費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5577840" y="3611880"/>
            <a:ext cx="114300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577840" y="36118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API合計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6766560" y="3611880"/>
            <a:ext cx="114300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766560" y="36118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粗利（¥980）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7955280" y="3611880"/>
            <a:ext cx="100584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955280" y="3611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粗利率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274320" y="3886200"/>
            <a:ext cx="29260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10896" y="3886200"/>
            <a:ext cx="2852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+ Nanobanana 2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3246120" y="3886200"/>
            <a:ext cx="12344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282696" y="3886200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¥20</a:t>
            </a:r>
            <a:endParaRPr lang="en-US" sz="1000" dirty="0"/>
          </a:p>
        </p:txBody>
      </p:sp>
      <p:sp>
        <p:nvSpPr>
          <p:cNvPr id="152" name="Shape 150"/>
          <p:cNvSpPr/>
          <p:nvPr/>
        </p:nvSpPr>
        <p:spPr>
          <a:xfrm>
            <a:off x="4526280" y="3886200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562856" y="3886200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¥201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5577840" y="3886200"/>
            <a:ext cx="11430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614416" y="3886200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¥221</a:t>
            </a:r>
            <a:endParaRPr lang="en-US" sz="1000" dirty="0"/>
          </a:p>
        </p:txBody>
      </p:sp>
      <p:sp>
        <p:nvSpPr>
          <p:cNvPr id="156" name="Shape 154"/>
          <p:cNvSpPr/>
          <p:nvPr/>
        </p:nvSpPr>
        <p:spPr>
          <a:xfrm>
            <a:off x="6766560" y="3886200"/>
            <a:ext cx="11430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6803136" y="3886200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¥759</a:t>
            </a:r>
            <a:endParaRPr lang="en-US" sz="1000" dirty="0"/>
          </a:p>
        </p:txBody>
      </p:sp>
      <p:sp>
        <p:nvSpPr>
          <p:cNvPr id="158" name="Shape 156"/>
          <p:cNvSpPr/>
          <p:nvPr/>
        </p:nvSpPr>
        <p:spPr>
          <a:xfrm>
            <a:off x="7955280" y="3886200"/>
            <a:ext cx="1005840" cy="347472"/>
          </a:xfrm>
          <a:prstGeom prst="rect">
            <a:avLst/>
          </a:prstGeom>
          <a:solidFill>
            <a:srgbClr val="E6F5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7991856" y="3886200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77.4%</a:t>
            </a:r>
            <a:endParaRPr lang="en-US" sz="1100" dirty="0"/>
          </a:p>
        </p:txBody>
      </p:sp>
      <p:sp>
        <p:nvSpPr>
          <p:cNvPr id="160" name="Shape 158"/>
          <p:cNvSpPr/>
          <p:nvPr/>
        </p:nvSpPr>
        <p:spPr>
          <a:xfrm>
            <a:off x="274320" y="4233672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10896" y="4233672"/>
            <a:ext cx="2852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+ Nanobanana 2</a:t>
            </a:r>
            <a:endParaRPr lang="en-US" sz="1000" dirty="0"/>
          </a:p>
        </p:txBody>
      </p:sp>
      <p:sp>
        <p:nvSpPr>
          <p:cNvPr id="162" name="Shape 160"/>
          <p:cNvSpPr/>
          <p:nvPr/>
        </p:nvSpPr>
        <p:spPr>
          <a:xfrm>
            <a:off x="3246120" y="4233672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282696" y="423367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¥234</a:t>
            </a:r>
            <a:endParaRPr lang="en-US" sz="1000" dirty="0"/>
          </a:p>
        </p:txBody>
      </p:sp>
      <p:sp>
        <p:nvSpPr>
          <p:cNvPr id="164" name="Shape 162"/>
          <p:cNvSpPr/>
          <p:nvPr/>
        </p:nvSpPr>
        <p:spPr>
          <a:xfrm>
            <a:off x="4526280" y="4233672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562856" y="423367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¥201</a:t>
            </a:r>
            <a:endParaRPr lang="en-US" sz="1000" dirty="0"/>
          </a:p>
        </p:txBody>
      </p:sp>
      <p:sp>
        <p:nvSpPr>
          <p:cNvPr id="166" name="Shape 164"/>
          <p:cNvSpPr/>
          <p:nvPr/>
        </p:nvSpPr>
        <p:spPr>
          <a:xfrm>
            <a:off x="5577840" y="4233672"/>
            <a:ext cx="1143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614416" y="4233672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¥435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6766560" y="4233672"/>
            <a:ext cx="1143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803136" y="4233672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¥545</a:t>
            </a:r>
            <a:endParaRPr lang="en-US" sz="1000" dirty="0"/>
          </a:p>
        </p:txBody>
      </p:sp>
      <p:sp>
        <p:nvSpPr>
          <p:cNvPr id="170" name="Shape 168"/>
          <p:cNvSpPr/>
          <p:nvPr/>
        </p:nvSpPr>
        <p:spPr>
          <a:xfrm>
            <a:off x="7955280" y="4233672"/>
            <a:ext cx="1005840" cy="347472"/>
          </a:xfrm>
          <a:prstGeom prst="rect">
            <a:avLst/>
          </a:prstGeom>
          <a:solidFill>
            <a:srgbClr val="E6F5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7991856" y="423367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55.6%</a:t>
            </a:r>
            <a:endParaRPr lang="en-US" sz="1100" dirty="0"/>
          </a:p>
        </p:txBody>
      </p:sp>
      <p:sp>
        <p:nvSpPr>
          <p:cNvPr id="172" name="Shape 170"/>
          <p:cNvSpPr/>
          <p:nvPr/>
        </p:nvSpPr>
        <p:spPr>
          <a:xfrm>
            <a:off x="274320" y="4581144"/>
            <a:ext cx="29260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310896" y="4581144"/>
            <a:ext cx="2852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 + Nanobanana 2</a:t>
            </a:r>
            <a:endParaRPr lang="en-US" sz="1000" dirty="0"/>
          </a:p>
        </p:txBody>
      </p:sp>
      <p:sp>
        <p:nvSpPr>
          <p:cNvPr id="174" name="Shape 172"/>
          <p:cNvSpPr/>
          <p:nvPr/>
        </p:nvSpPr>
        <p:spPr>
          <a:xfrm>
            <a:off x="3246120" y="4581144"/>
            <a:ext cx="12344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282696" y="4581144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¥700</a:t>
            </a:r>
            <a:endParaRPr lang="en-US" sz="1000" dirty="0"/>
          </a:p>
        </p:txBody>
      </p:sp>
      <p:sp>
        <p:nvSpPr>
          <p:cNvPr id="176" name="Shape 174"/>
          <p:cNvSpPr/>
          <p:nvPr/>
        </p:nvSpPr>
        <p:spPr>
          <a:xfrm>
            <a:off x="4526280" y="4581144"/>
            <a:ext cx="10058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562856" y="4581144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¥201</a:t>
            </a:r>
            <a:endParaRPr lang="en-US" sz="1000" dirty="0"/>
          </a:p>
        </p:txBody>
      </p:sp>
      <p:sp>
        <p:nvSpPr>
          <p:cNvPr id="178" name="Shape 176"/>
          <p:cNvSpPr/>
          <p:nvPr/>
        </p:nvSpPr>
        <p:spPr>
          <a:xfrm>
            <a:off x="5577840" y="4581144"/>
            <a:ext cx="11430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5614416" y="4581144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¥901</a:t>
            </a:r>
            <a:endParaRPr lang="en-US" sz="1000" dirty="0"/>
          </a:p>
        </p:txBody>
      </p:sp>
      <p:sp>
        <p:nvSpPr>
          <p:cNvPr id="180" name="Shape 178"/>
          <p:cNvSpPr/>
          <p:nvPr/>
        </p:nvSpPr>
        <p:spPr>
          <a:xfrm>
            <a:off x="6766560" y="4581144"/>
            <a:ext cx="11430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6803136" y="4581144"/>
            <a:ext cx="1069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¥79</a:t>
            </a:r>
            <a:endParaRPr lang="en-US" sz="1000" dirty="0"/>
          </a:p>
        </p:txBody>
      </p:sp>
      <p:sp>
        <p:nvSpPr>
          <p:cNvPr id="182" name="Shape 180"/>
          <p:cNvSpPr/>
          <p:nvPr/>
        </p:nvSpPr>
        <p:spPr>
          <a:xfrm>
            <a:off x="7955280" y="4581144"/>
            <a:ext cx="100584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991856" y="4581144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8.1%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Pro ¥980/月 の粗利分析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ANALYSIS @ ¥980/MONTH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574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057400" cy="38404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7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74320" y="23317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ヘビーユース粗利率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633472"/>
            <a:ext cx="1600200" cy="27432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最適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005840"/>
            <a:ext cx="20574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005840"/>
            <a:ext cx="20574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0058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4.5 Haiku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50592" y="141732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450592" y="23317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ヘビーユース粗利率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79192" y="2633472"/>
            <a:ext cx="16002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9192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可能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26864" y="1005840"/>
            <a:ext cx="20574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1005840"/>
            <a:ext cx="2057400" cy="384048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10058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26864" y="141732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6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29%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4626864" y="23317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ヘビーユース粗利率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55464" y="2633472"/>
            <a:ext cx="1600200" cy="27432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5464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薄利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03136" y="1005840"/>
            <a:ext cx="205740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3136" y="1005840"/>
            <a:ext cx="2057400" cy="38404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10058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+ 画像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03136" y="141732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6803136" y="23317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ヘビーユース粗利率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31736" y="2633472"/>
            <a:ext cx="1600200" cy="2743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31736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要値上げ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判定サマリー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74320" y="3429000"/>
            <a:ext cx="33375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4290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0" y="3429000"/>
            <a:ext cx="141732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34290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粗利率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20640" y="3429000"/>
            <a:ext cx="132588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34290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判定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92240" y="3429000"/>
            <a:ext cx="24231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34290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コメント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703320"/>
            <a:ext cx="333756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" y="3703320"/>
            <a:ext cx="3264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Flash（テキストのみ）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0" y="3703320"/>
            <a:ext cx="14173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94176" y="370332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粗利98%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120640" y="3703320"/>
            <a:ext cx="1325880" cy="237744"/>
          </a:xfrm>
          <a:prstGeom prst="rect">
            <a:avLst/>
          </a:prstGeom>
          <a:solidFill>
            <a:srgbClr val="E6F5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57216" y="3703320"/>
            <a:ext cx="1252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最適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92240" y="3703320"/>
            <a:ext cx="242316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28816" y="3703320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ヘビーユーザーでも余裕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3941064"/>
            <a:ext cx="33375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0896" y="3941064"/>
            <a:ext cx="3264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+ Nanobanana 2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0" y="3941064"/>
            <a:ext cx="14173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94176" y="3941064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粗利77%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120640" y="3941064"/>
            <a:ext cx="1325880" cy="237744"/>
          </a:xfrm>
          <a:prstGeom prst="rect">
            <a:avLst/>
          </a:prstGeom>
          <a:solidFill>
            <a:srgbClr val="E6F5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57216" y="3941064"/>
            <a:ext cx="1252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推奨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492240" y="3941064"/>
            <a:ext cx="2423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8816" y="3941064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画像込みでも健全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74320" y="4178808"/>
            <a:ext cx="333756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0896" y="4178808"/>
            <a:ext cx="3264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4.5 Haiku（テキスト）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57600" y="4178808"/>
            <a:ext cx="14173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94176" y="4178808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粗利76〜89%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120640" y="4178808"/>
            <a:ext cx="1325880" cy="237744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57216" y="4178808"/>
            <a:ext cx="1252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可能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492240" y="4178808"/>
            <a:ext cx="242316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28816" y="4178808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十分なマージン確保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74320" y="4416552"/>
            <a:ext cx="33375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0896" y="4416552"/>
            <a:ext cx="3264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+ Nanobanana 2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57600" y="4416552"/>
            <a:ext cx="14173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94176" y="4416552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粗利56%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120640" y="4416552"/>
            <a:ext cx="1325880" cy="237744"/>
          </a:xfrm>
          <a:prstGeom prst="rect">
            <a:avLst/>
          </a:prstGeom>
          <a:solidFill>
            <a:srgbClr val="FFF8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57216" y="4416552"/>
            <a:ext cx="1252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要注意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492240" y="4416552"/>
            <a:ext cx="2423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28816" y="4416552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ヘビーユーザーで薄利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74320" y="4654296"/>
            <a:ext cx="333756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" y="4654296"/>
            <a:ext cx="3264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4.6（テキスト）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657600" y="4654296"/>
            <a:ext cx="14173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94176" y="4654296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粗利29〜66%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120640" y="4654296"/>
            <a:ext cx="1325880" cy="237744"/>
          </a:xfrm>
          <a:prstGeom prst="rect">
            <a:avLst/>
          </a:prstGeom>
          <a:solidFill>
            <a:srgbClr val="FDEC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57216" y="4654296"/>
            <a:ext cx="1252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薄利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492240" y="4654296"/>
            <a:ext cx="242316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28816" y="4654296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ヘビーユーザーで赤字リスク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74320" y="4892040"/>
            <a:ext cx="33375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10896" y="4892040"/>
            <a:ext cx="3264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 + Nanobanana 2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657600" y="4892040"/>
            <a:ext cx="14173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94176" y="489204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粗利8%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120640" y="4892040"/>
            <a:ext cx="1325880" cy="237744"/>
          </a:xfrm>
          <a:prstGeom prst="rect">
            <a:avLst/>
          </a:prstGeom>
          <a:solidFill>
            <a:srgbClr val="FDEC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57216" y="4892040"/>
            <a:ext cx="1252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不可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492240" y="4892040"/>
            <a:ext cx="2423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528816" y="4892040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¥2,980〜が必要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画像生成 Nanobanana 2 — コストと注意事項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COSTS &amp; USAGE POLICY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Nanobanana 2（Gemini 3.1 Flash Image）解像度別料金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057400" cy="1828800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89888"/>
            <a:ext cx="20574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898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38988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512px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121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¥6.75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2487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バッチ: ¥3.30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7614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サムネイル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SNSアイコン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389888"/>
            <a:ext cx="2057400" cy="1828800"/>
          </a:xfrm>
          <a:prstGeom prst="rect">
            <a:avLst/>
          </a:prstGeom>
          <a:solidFill>
            <a:srgbClr val="FFF3F1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1389888"/>
            <a:ext cx="2057400" cy="41148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3898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138988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1024px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1417320"/>
            <a:ext cx="7315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4173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★推奨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146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14600" y="2121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¥10.05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514600" y="2487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バッチ: ¥5.10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14600" y="27614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ブログバナー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SNS投稿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389888"/>
            <a:ext cx="2057400" cy="1828800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389888"/>
            <a:ext cx="20574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3898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69280" y="138988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2048px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2121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¥15.15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09160" y="2487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バッチ: ¥7.50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27614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高品質バナー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1389888"/>
            <a:ext cx="2057400" cy="1828800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1389888"/>
            <a:ext cx="20574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13898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4K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863840" y="138988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4096px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0372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03720" y="2121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¥22.65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903720" y="24871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バッチ: ¥11.40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03720" y="27614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ポスター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印刷物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337560"/>
            <a:ext cx="5029200" cy="2743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HPB規約との関係 — 重要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" y="3611880"/>
            <a:ext cx="3383280" cy="274320"/>
          </a:xfrm>
          <a:prstGeom prst="rect">
            <a:avLst/>
          </a:prstGeom>
          <a:solidFill>
            <a:srgbClr val="FDEC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HPBブログのバナー画像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06624" y="3611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HPB掲載 不可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886200"/>
            <a:ext cx="3383280" cy="274320"/>
          </a:xfrm>
          <a:prstGeom prst="rect">
            <a:avLst/>
          </a:prstGeom>
          <a:solidFill>
            <a:srgbClr val="FDECE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3886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HPBスタイル写真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06624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HPB掲載 不可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160520"/>
            <a:ext cx="3383280" cy="274320"/>
          </a:xfrm>
          <a:prstGeom prst="rect">
            <a:avLst/>
          </a:prstGeom>
          <a:solidFill>
            <a:srgbClr val="E6F5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SNS投稿用（Instagram等）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706624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推奨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434840"/>
            <a:ext cx="3383280" cy="274320"/>
          </a:xfrm>
          <a:prstGeom prst="rect">
            <a:avLst/>
          </a:prstGeom>
          <a:solidFill>
            <a:srgbClr val="E6F5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自社Webサイト・ブログ用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706624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推奨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4709160"/>
            <a:ext cx="3383280" cy="274320"/>
          </a:xfrm>
          <a:prstGeom prst="rect">
            <a:avLst/>
          </a:prstGeom>
          <a:solidFill>
            <a:srgbClr val="E6F5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" y="4709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スタッフ教育資料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706624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推奨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486400" y="3337560"/>
            <a:ext cx="34290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0" y="33375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コスト管理の推奨事項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486400" y="3611880"/>
            <a:ext cx="3429000" cy="27432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41264" y="3611880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月間上限設定（Pro: 20〜30枚 / Team: 100枚）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486400" y="3886200"/>
            <a:ext cx="3429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41264" y="3886200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デフォルト解像度は 1K に統一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486400" y="4160520"/>
            <a:ext cx="3429000" cy="27432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41264" y="4160520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高解像度はオプション選択制に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486400" y="4434840"/>
            <a:ext cx="3429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41264" y="4434840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生成済み画像のキャッシュ・再利用で抑制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486400" y="4709160"/>
            <a:ext cx="3429000" cy="27432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41264" y="4709160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usage_tracking で枚数・解像度を個別計上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モデル選定の推奨方針・将来の値上げ余地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8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MODEL STRATEGY &amp; PRICING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フェーズ別推奨構成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057400" cy="2148840"/>
          </a:xfrm>
          <a:prstGeom prst="rect">
            <a:avLst/>
          </a:prstGeom>
          <a:solidFill>
            <a:srgbClr val="F1F5F9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89888"/>
            <a:ext cx="2057400" cy="45720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8988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2677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226771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6151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261518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¥980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29626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粗利率: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296265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" y="333756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最安コストで市場検証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68880" y="1389888"/>
            <a:ext cx="2057400" cy="2148840"/>
          </a:xfrm>
          <a:prstGeom prst="rect">
            <a:avLst/>
          </a:prstGeom>
          <a:solidFill>
            <a:srgbClr val="F1F5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1389888"/>
            <a:ext cx="20574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138988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画像追加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1920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15468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14600" y="22677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54680" y="226771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Nanobanana 2 (1K)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14600" y="26151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54680" y="261518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¥980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14600" y="29626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粗利率: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154680" y="296265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514600" y="333756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テキスト+画像でも粗利健全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1389888"/>
            <a:ext cx="2057400" cy="2148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1389888"/>
            <a:ext cx="2057400" cy="457200"/>
          </a:xfrm>
          <a:prstGeom prst="rect">
            <a:avLst/>
          </a:prstGeom>
          <a:solidFill>
            <a:srgbClr val="C97000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38988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品質向上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検討時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09160" y="1920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4924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4.5 Haiku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22677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49240" y="226771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Nanobanana 2 (1K)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26151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49240" y="261518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¥980〜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29626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粗利率: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49240" y="296265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56%+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709160" y="333756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生成品質UP。値上げも検討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858000" y="1389888"/>
            <a:ext cx="2057400" cy="2148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0" y="1389888"/>
            <a:ext cx="2057400" cy="45720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138988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プレミアム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品質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03720" y="1920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54380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03720" y="22677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543800" y="226771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Nanobanana 2 (1K)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03720" y="26151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月額: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543800" y="261518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¥2,980〜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03720" y="29626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粗利率: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543800" y="296265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903720" y="333756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要値上げ。ユーザー100+店舗後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7432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将来のティア分け案（モデル差別化時）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74320" y="4023360"/>
            <a:ext cx="2057400" cy="292608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0233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プラン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377440" y="4023360"/>
            <a:ext cx="1371600" cy="292608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77440" y="40233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794760" y="4023360"/>
            <a:ext cx="2194560" cy="292608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94760" y="40233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テキストモデル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035040" y="4023360"/>
            <a:ext cx="1508760" cy="292608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35040" y="40233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589520" y="4023360"/>
            <a:ext cx="1325880" cy="292608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89520" y="40233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想定粗利率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4315968"/>
            <a:ext cx="2057400" cy="292608"/>
          </a:xfrm>
          <a:prstGeom prst="rect">
            <a:avLst/>
          </a:prstGeom>
          <a:solidFill>
            <a:srgbClr val="1B7A3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0896" y="4315968"/>
            <a:ext cx="1984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Pro（Standard）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377440" y="4315968"/>
            <a:ext cx="13716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14016" y="431596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¥980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794760" y="4315968"/>
            <a:ext cx="21945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31336" y="4315968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035040" y="4315968"/>
            <a:ext cx="15087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71616" y="4315968"/>
            <a:ext cx="1435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Nanobanana 2 (20枚)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589520" y="4315968"/>
            <a:ext cx="13258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26096" y="4315968"/>
            <a:ext cx="1252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74320" y="4608576"/>
            <a:ext cx="20574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0896" y="4608576"/>
            <a:ext cx="1984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Pro（Quality）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377440" y="4608576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414016" y="4608576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¥1,980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794760" y="4608576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831336" y="4608576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4.5 Haiku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035040" y="4608576"/>
            <a:ext cx="1508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71616" y="4608576"/>
            <a:ext cx="1435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Nanobanana 2 (30枚)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589520" y="4608576"/>
            <a:ext cx="1325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626096" y="4608576"/>
            <a:ext cx="1252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74320" y="4901184"/>
            <a:ext cx="2057400" cy="292608"/>
          </a:xfrm>
          <a:prstGeom prst="rect">
            <a:avLst/>
          </a:prstGeom>
          <a:solidFill>
            <a:srgbClr val="5C3A8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10896" y="4901184"/>
            <a:ext cx="1984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Pro（Premium）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2377440" y="4901184"/>
            <a:ext cx="137160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414016" y="4901184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¥3,980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794760" y="4901184"/>
            <a:ext cx="21945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831336" y="4901184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035040" y="4901184"/>
            <a:ext cx="15087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071616" y="4901184"/>
            <a:ext cx="1435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Nanobanana 2 (50枚)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589520" y="4901184"/>
            <a:ext cx="13258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626096" y="4901184"/>
            <a:ext cx="1252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274320" y="5193792"/>
            <a:ext cx="2057400" cy="292608"/>
          </a:xfrm>
          <a:prstGeom prst="rect">
            <a:avLst/>
          </a:prstGeom>
          <a:solidFill>
            <a:srgbClr val="1A2E3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10896" y="5193792"/>
            <a:ext cx="1984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2377440" y="5193792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414016" y="519379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要問い合わせ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3794760" y="5193792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831336" y="5193792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選択可能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6035040" y="5193792"/>
            <a:ext cx="1508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071616" y="5193792"/>
            <a:ext cx="1435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無制限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7589520" y="5193792"/>
            <a:ext cx="1325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626096" y="5193792"/>
            <a:ext cx="1252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まとめ — ¥980 の総合判定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8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VERDICT ON ¥980 PRICING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1828800"/>
          </a:xfrm>
          <a:prstGeom prst="rect">
            <a:avLst/>
          </a:prstGeom>
          <a:solidFill>
            <a:srgbClr val="1E3A42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2029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Flash 構成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39572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粗利77〜99%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画像込みでも長期持続可能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Phase 1〜2 の標準構成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508760"/>
            <a:ext cx="2743200" cy="1828800"/>
          </a:xfrm>
          <a:prstGeom prst="rect">
            <a:avLst/>
          </a:prstGeom>
          <a:solidFill>
            <a:srgbClr val="1E3A42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54680" y="2029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Haiku 構成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54680" y="239572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粗利56〜89%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品質向上とセットで検討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PMF達成後に¥1,480〜へ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508760"/>
            <a:ext cx="2743200" cy="1828800"/>
          </a:xfrm>
          <a:prstGeom prst="rect">
            <a:avLst/>
          </a:prstGeom>
          <a:solidFill>
            <a:srgbClr val="1E3A42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❌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35040" y="2029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Sonnet 構成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239572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粗利8〜66%（画像込みは8%）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¥980では持続不可能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¥2,980〜 が必須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評価項目サマリー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794760"/>
            <a:ext cx="6858000" cy="256032"/>
          </a:xfrm>
          <a:prstGeom prst="rect">
            <a:avLst/>
          </a:prstGeom>
          <a:solidFill>
            <a:srgbClr val="1B3C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3794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¥980 × Gemini Flash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55264" y="3794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余裕あり（粗利 77〜99%）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8040" y="37947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4050792"/>
            <a:ext cx="6858000" cy="256032"/>
          </a:xfrm>
          <a:prstGeom prst="rect">
            <a:avLst/>
          </a:prstGeom>
          <a:solidFill>
            <a:srgbClr val="3C33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4050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¥980 × Claude 4.5 Haiku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55264" y="40507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可能だが画像込みで薄利（粗利 56〜89%）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78040" y="40507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✅⚠️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4306824"/>
            <a:ext cx="6858000" cy="256032"/>
          </a:xfrm>
          <a:prstGeom prst="rect">
            <a:avLst/>
          </a:prstGeom>
          <a:solidFill>
            <a:srgbClr val="3C1B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430682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¥980 × Claude Sonnet 4.6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55264" y="43068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持続不可能（粗利 8〜66%）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78040" y="430682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4562856"/>
            <a:ext cx="6858000" cy="256032"/>
          </a:xfrm>
          <a:prstGeom prst="rect">
            <a:avLst/>
          </a:prstGeom>
          <a:solidFill>
            <a:srgbClr val="1B3C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45628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推奨構成（Phase 1〜2）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55264" y="45628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+ Nanobanana 2。コスト最優先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456285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4818888"/>
            <a:ext cx="6858000" cy="256032"/>
          </a:xfrm>
          <a:prstGeom prst="rect">
            <a:avLst/>
          </a:prstGeom>
          <a:solidFill>
            <a:srgbClr val="3C33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48188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Sonnet導入時の対応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55264" y="4818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¥2,980以上への値上げ or プレミアムティア新設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78040" y="481888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⚠️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HPB Content Studio — 価格・APIコスト検証</dc:title>
  <dc:subject>PptxGenJS Presentation</dc:subject>
  <dc:creator>PptxGenJS</dc:creator>
  <cp:lastModifiedBy>PptxGenJS</cp:lastModifiedBy>
  <cp:revision>1</cp:revision>
  <dcterms:created xsi:type="dcterms:W3CDTF">2026-03-05T08:06:04Z</dcterms:created>
  <dcterms:modified xsi:type="dcterms:W3CDTF">2026-03-05T08:06:04Z</dcterms:modified>
</cp:coreProperties>
</file>