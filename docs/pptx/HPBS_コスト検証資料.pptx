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3909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HPB Content Studio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価格・APIコスト検証</a:t>
            </a:r>
            <a:endParaRPr lang="en-US" sz="3800" dirty="0">
              <a:latin typeface="Meiryo UI" panose="020B0604030504040204" pitchFamily="50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8D8D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Pro月額¥980の妥当性 / モデル別コスト比較 / 画像生成追加の影響分析</a:t>
            </a:r>
            <a:endParaRPr lang="en-US" sz="1400" dirty="0">
              <a:latin typeface="Meiryo UI" panose="020B0604030504040204" pitchFamily="50" charset="-128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2743200" cy="1463040"/>
          </a:xfrm>
          <a:prstGeom prst="rect">
            <a:avLst/>
          </a:prstGeom>
          <a:solidFill>
            <a:srgbClr val="1E3A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423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Meiryo UI" panose="020B0604030504040204" pitchFamily="50" charset="-128"/>
              </a:rPr>
              <a:t>💴</a:t>
            </a:r>
            <a:endParaRPr lang="en-US" sz="2200" dirty="0">
              <a:latin typeface="Meiryo UI" panose="020B0604030504040204" pitchFamily="50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D5D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Pro月額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309067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¥980</a:t>
            </a:r>
            <a:endParaRPr lang="en-US" sz="1800" dirty="0">
              <a:latin typeface="Meiryo UI" panose="020B0604030504040204" pitchFamily="50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テスト期間確定価格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337560" y="2377440"/>
            <a:ext cx="2743200" cy="1463040"/>
          </a:xfrm>
          <a:prstGeom prst="rect">
            <a:avLst/>
          </a:prstGeom>
          <a:solidFill>
            <a:srgbClr val="1E3A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2423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Meiryo UI" panose="020B0604030504040204" pitchFamily="50" charset="-128"/>
              </a:rPr>
              <a:t>📊</a:t>
            </a:r>
            <a:endParaRPr lang="en-US" sz="2200" dirty="0">
              <a:latin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3756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D5D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比較モデル数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37560" y="309067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3モデル</a:t>
            </a:r>
            <a:endParaRPr lang="en-US" sz="1800" dirty="0">
              <a:latin typeface="Meiryo UI" panose="020B0604030504040204" pitchFamily="50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337560" y="3474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Gemini / Haiku / Sonnet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17920" y="2377440"/>
            <a:ext cx="2743200" cy="1463040"/>
          </a:xfrm>
          <a:prstGeom prst="rect">
            <a:avLst/>
          </a:prstGeom>
          <a:solidFill>
            <a:srgbClr val="1E3A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423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Meiryo UI" panose="020B0604030504040204" pitchFamily="50" charset="-128"/>
              </a:rPr>
              <a:t>🖼️</a:t>
            </a:r>
            <a:endParaRPr lang="en-US" sz="2200" dirty="0">
              <a:latin typeface="Meiryo UI" panose="020B0604030504040204" pitchFamily="50" charset="-12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21792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D5D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画像生成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17920" y="309067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Nanobanana 2</a:t>
            </a:r>
            <a:endParaRPr lang="en-US" sz="1800" dirty="0">
              <a:latin typeface="Meiryo UI" panose="020B0604030504040204" pitchFamily="50" charset="-12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217920" y="3474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Gemini 3.1 Flash Image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200" y="4480560"/>
            <a:ext cx="1188720" cy="347472"/>
          </a:xfrm>
          <a:prstGeom prst="rect">
            <a:avLst/>
          </a:prstGeom>
          <a:solidFill>
            <a:srgbClr val="E8614E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4805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v1.1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828800" y="4480560"/>
            <a:ext cx="1188720" cy="347472"/>
          </a:xfrm>
          <a:prstGeom prst="rect">
            <a:avLst/>
          </a:prstGeom>
          <a:solidFill>
            <a:srgbClr val="E8614E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0" y="44805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2026-03-05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200400" y="4480560"/>
            <a:ext cx="1188720" cy="347472"/>
          </a:xfrm>
          <a:prstGeom prst="rect">
            <a:avLst/>
          </a:prstGeom>
          <a:solidFill>
            <a:srgbClr val="E8614E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44805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ドラフト</a:t>
            </a:r>
            <a:endParaRPr lang="en-US" sz="1100" dirty="0">
              <a:latin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01  比較対象モデル一覧</a:t>
            </a:r>
            <a:endParaRPr lang="en-US" sz="2200" dirty="0">
              <a:latin typeface="Meiryo UI" panose="020B060403050404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6126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A8D5D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MODEL COMPARISON OVERVIEW</a:t>
            </a:r>
            <a:endParaRPr lang="en-US" sz="900" dirty="0">
              <a:latin typeface="Meiryo UI" panose="020B0604030504040204" pitchFamily="50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テキスト生成モデル</a:t>
            </a:r>
            <a:endParaRPr lang="en-US" sz="1400" dirty="0">
              <a:latin typeface="Meiryo UI" panose="020B0604030504040204" pitchFamily="50" charset="-128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2743200" cy="1920240"/>
          </a:xfrm>
          <a:prstGeom prst="rect">
            <a:avLst/>
          </a:prstGeom>
          <a:solidFill>
            <a:srgbClr val="F1F5F9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89888"/>
            <a:ext cx="2743200" cy="457200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3898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Gemini 2.0 Flash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194560" y="1481328"/>
            <a:ext cx="731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14813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7A3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採用中</a:t>
            </a:r>
            <a:endParaRPr lang="en-US" sz="900" dirty="0">
              <a:latin typeface="Meiryo UI" panose="020B0604030504040204" pitchFamily="50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47472" y="193852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入力単価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88720" y="19385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$0.10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47472" y="213969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¥0.000015/tok</a:t>
            </a:r>
            <a:endParaRPr lang="en-US" sz="900" dirty="0">
              <a:latin typeface="Meiryo UI" panose="020B0604030504040204" pitchFamily="50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47472" y="235000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出力単価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88720" y="23500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$0.40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47472" y="255117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¥0.00006/tok</a:t>
            </a:r>
            <a:endParaRPr lang="en-US" sz="900" dirty="0">
              <a:latin typeface="Meiryo UI" panose="020B0604030504040204" pitchFamily="50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47472" y="2834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最安。現行技術設計書で採用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154680" y="1389888"/>
            <a:ext cx="2743200" cy="1920240"/>
          </a:xfrm>
          <a:prstGeom prst="rect">
            <a:avLst/>
          </a:prstGeom>
          <a:solidFill>
            <a:srgbClr val="F1F5F9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54680" y="1389888"/>
            <a:ext cx="27432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27832" y="13898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Claude 4.5 Haiku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074920" y="1481328"/>
            <a:ext cx="731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14813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比較</a:t>
            </a:r>
            <a:endParaRPr lang="en-US" sz="900" dirty="0">
              <a:latin typeface="Meiryo UI" panose="020B0604030504040204" pitchFamily="50" charset="-128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227832" y="193852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入力単価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069080" y="19385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$1.00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227832" y="213969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¥0.00015/tok</a:t>
            </a:r>
            <a:endParaRPr lang="en-US" sz="900" dirty="0">
              <a:latin typeface="Meiryo UI" panose="020B0604030504040204" pitchFamily="50" charset="-128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227832" y="235000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出力単価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069080" y="23500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$5.00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227832" y="255117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¥0.00075/tok</a:t>
            </a:r>
            <a:endParaRPr lang="en-US" sz="900" dirty="0">
              <a:latin typeface="Meiryo UI" panose="020B0604030504040204" pitchFamily="50" charset="-128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227832" y="2834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Geminiの10倍。Claude最安・高速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035040" y="1389888"/>
            <a:ext cx="2743200" cy="1920240"/>
          </a:xfrm>
          <a:prstGeom prst="rect">
            <a:avLst/>
          </a:prstGeom>
          <a:solidFill>
            <a:srgbClr val="F1F5F9"/>
          </a:solidFill>
          <a:ln w="12700">
            <a:solidFill>
              <a:srgbClr val="5C3A8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5040" y="1389888"/>
            <a:ext cx="2743200" cy="457200"/>
          </a:xfrm>
          <a:prstGeom prst="rect">
            <a:avLst/>
          </a:prstGeom>
          <a:solidFill>
            <a:srgbClr val="5C3A8C"/>
          </a:solidFill>
          <a:ln w="12700">
            <a:solidFill>
              <a:srgbClr val="5C3A8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08192" y="13898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Claude Sonnet 4.6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955280" y="1481328"/>
            <a:ext cx="731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55280" y="14813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C3A8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比較</a:t>
            </a:r>
            <a:endParaRPr lang="en-US" sz="900" dirty="0">
              <a:latin typeface="Meiryo UI" panose="020B0604030504040204" pitchFamily="50" charset="-128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108192" y="193852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入力単価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949440" y="19385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$3.00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108192" y="213969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¥0.00045/tok</a:t>
            </a:r>
            <a:endParaRPr lang="en-US" sz="900" dirty="0">
              <a:latin typeface="Meiryo UI" panose="020B0604030504040204" pitchFamily="50" charset="-128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108192" y="235000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出力単価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949440" y="23500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$15.00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108192" y="255117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¥0.00225/tok</a:t>
            </a:r>
            <a:endParaRPr lang="en-US" sz="900" dirty="0">
              <a:latin typeface="Meiryo UI" panose="020B0604030504040204" pitchFamily="50" charset="-128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108192" y="2834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最高品質。Geminiの30倍超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274320" y="3429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出力コスト倍率（Gemini比）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274320" y="3822192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Gemini 2.0 Flash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2468880" y="3877056"/>
            <a:ext cx="457200" cy="228600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17520" y="3822192"/>
            <a:ext cx="914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7A3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1倍</a:t>
            </a:r>
            <a:endParaRPr lang="en-US" sz="1200" dirty="0">
              <a:latin typeface="Meiryo UI" panose="020B0604030504040204" pitchFamily="50" charset="-128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274320" y="4206240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Claude 4.5 Haiku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2468880" y="4261104"/>
            <a:ext cx="2743200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03520" y="4206240"/>
            <a:ext cx="914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12.5倍</a:t>
            </a:r>
            <a:endParaRPr lang="en-US" sz="1200" dirty="0">
              <a:latin typeface="Meiryo UI" panose="020B0604030504040204" pitchFamily="50" charset="-128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274320" y="4590288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Claude Sonnet 4.6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2468880" y="4645152"/>
            <a:ext cx="6858000" cy="228600"/>
          </a:xfrm>
          <a:prstGeom prst="rect">
            <a:avLst/>
          </a:prstGeom>
          <a:solidFill>
            <a:srgbClr val="E8614E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418320" y="4590288"/>
            <a:ext cx="914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14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37.5倍</a:t>
            </a:r>
            <a:endParaRPr lang="en-US" sz="1200" dirty="0">
              <a:latin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02  コンテンツタイプ別 APIコスト比較</a:t>
            </a:r>
            <a:endParaRPr lang="en-US" sz="2000" dirty="0">
              <a:latin typeface="Meiryo UI" panose="020B060403050404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6126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888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CONTENT TYPE COST COMPARISON (PER GENERATION)</a:t>
            </a:r>
            <a:endParaRPr lang="en-US" sz="900" dirty="0">
              <a:latin typeface="Meiryo UI" panose="020B0604030504040204" pitchFamily="50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011680" cy="347472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コンテンツタイプ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331720" y="1005840"/>
            <a:ext cx="1325880" cy="347472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100584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HPB上限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703320" y="1005840"/>
            <a:ext cx="1600200" cy="347472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10058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Gemini 2.0 Flash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349240" y="1005840"/>
            <a:ext cx="16002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49240" y="10058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Claude 4.5 Haiku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995160" y="1005840"/>
            <a:ext cx="1874520" cy="347472"/>
          </a:xfrm>
          <a:prstGeom prst="rect">
            <a:avLst/>
          </a:prstGeom>
          <a:solidFill>
            <a:srgbClr val="5C3A8C"/>
          </a:solidFill>
          <a:ln w="12700">
            <a:solidFill>
              <a:srgbClr val="5C3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95160" y="100584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Claude Sonnet 4.6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74320" y="1353312"/>
            <a:ext cx="201168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" y="1353312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サロンキャッチコピー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331720" y="1353312"/>
            <a:ext cx="132588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86584" y="1353312"/>
            <a:ext cx="1216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45文字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703320" y="1353312"/>
            <a:ext cx="160020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58184" y="1353312"/>
            <a:ext cx="1490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¥0.03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349240" y="1353312"/>
            <a:ext cx="160020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04104" y="1353312"/>
            <a:ext cx="1490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¥0.32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995160" y="1353312"/>
            <a:ext cx="187452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50024" y="1353312"/>
            <a:ext cx="1764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¥0.95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74320" y="1700784"/>
            <a:ext cx="2011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" y="1700784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サロン紹介文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331720" y="1700784"/>
            <a:ext cx="1325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86584" y="1700784"/>
            <a:ext cx="1216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500文字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703320" y="1700784"/>
            <a:ext cx="1600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58184" y="1700784"/>
            <a:ext cx="1490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¥0.07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349240" y="1700784"/>
            <a:ext cx="1600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04104" y="1700784"/>
            <a:ext cx="1490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¥0.79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995160" y="1700784"/>
            <a:ext cx="1874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50024" y="1700784"/>
            <a:ext cx="1764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¥2.36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274320" y="2048256"/>
            <a:ext cx="201168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" y="2048256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スタイリストプロフィール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2331720" y="2048256"/>
            <a:ext cx="132588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86584" y="2048256"/>
            <a:ext cx="1216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200文字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3703320" y="2048256"/>
            <a:ext cx="160020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58184" y="2048256"/>
            <a:ext cx="1490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¥0.04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349240" y="2048256"/>
            <a:ext cx="160020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04104" y="2048256"/>
            <a:ext cx="1490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¥0.49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995160" y="2048256"/>
            <a:ext cx="187452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50024" y="2048256"/>
            <a:ext cx="1764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¥1.46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274320" y="2395728"/>
            <a:ext cx="2011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9184" y="2395728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スタイル説明文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2331720" y="2395728"/>
            <a:ext cx="1325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86584" y="2395728"/>
            <a:ext cx="1216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70文字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3703320" y="2395728"/>
            <a:ext cx="1600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58184" y="2395728"/>
            <a:ext cx="1490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¥0.03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5349240" y="2395728"/>
            <a:ext cx="1600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04104" y="2395728"/>
            <a:ext cx="1490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¥0.32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6995160" y="2395728"/>
            <a:ext cx="1874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50024" y="2395728"/>
            <a:ext cx="1764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¥0.95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274320" y="2743200"/>
            <a:ext cx="2011680" cy="347472"/>
          </a:xfrm>
          <a:prstGeom prst="rect">
            <a:avLst/>
          </a:prstGeom>
          <a:solidFill>
            <a:srgbClr val="FFF8E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9184" y="2743200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ブログ記事 ⚡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2331720" y="2743200"/>
            <a:ext cx="1325880" cy="347472"/>
          </a:xfrm>
          <a:prstGeom prst="rect">
            <a:avLst/>
          </a:prstGeom>
          <a:solidFill>
            <a:srgbClr val="FFF8E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386584" y="2743200"/>
            <a:ext cx="1216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10,000文字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3703320" y="2743200"/>
            <a:ext cx="1600200" cy="347472"/>
          </a:xfrm>
          <a:prstGeom prst="rect">
            <a:avLst/>
          </a:prstGeom>
          <a:solidFill>
            <a:srgbClr val="FFF8E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758184" y="2743200"/>
            <a:ext cx="1490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7A3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¥0.30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5349240" y="2743200"/>
            <a:ext cx="1600200" cy="347472"/>
          </a:xfrm>
          <a:prstGeom prst="rect">
            <a:avLst/>
          </a:prstGeom>
          <a:solidFill>
            <a:srgbClr val="FFF8E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04104" y="2743200"/>
            <a:ext cx="1490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¥3.65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6995160" y="2743200"/>
            <a:ext cx="1874520" cy="347472"/>
          </a:xfrm>
          <a:prstGeom prst="rect">
            <a:avLst/>
          </a:prstGeom>
          <a:solidFill>
            <a:srgbClr val="FFF8E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050024" y="2743200"/>
            <a:ext cx="1764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614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¥10.94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274320" y="3090672"/>
            <a:ext cx="2011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9184" y="3090672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クーポン説明文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2331720" y="3090672"/>
            <a:ext cx="1325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386584" y="3090672"/>
            <a:ext cx="1216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200文字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3703320" y="3090672"/>
            <a:ext cx="1600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758184" y="3090672"/>
            <a:ext cx="1490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¥0.04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5349240" y="3090672"/>
            <a:ext cx="1600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404104" y="3090672"/>
            <a:ext cx="1490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¥0.49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6995160" y="3090672"/>
            <a:ext cx="1874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050024" y="3090672"/>
            <a:ext cx="1764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¥1.46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274320" y="3438144"/>
            <a:ext cx="201168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29184" y="3438144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口コミ返信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2331720" y="3438144"/>
            <a:ext cx="132588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386584" y="3438144"/>
            <a:ext cx="1216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可変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3703320" y="3438144"/>
            <a:ext cx="160020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758184" y="3438144"/>
            <a:ext cx="1490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¥0.05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5349240" y="3438144"/>
            <a:ext cx="160020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404104" y="3438144"/>
            <a:ext cx="1490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¥0.60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83" name="Shape 81"/>
          <p:cNvSpPr/>
          <p:nvPr/>
        </p:nvSpPr>
        <p:spPr>
          <a:xfrm>
            <a:off x="6995160" y="3438144"/>
            <a:ext cx="187452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050024" y="3438144"/>
            <a:ext cx="1764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¥1.80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274320" y="3785616"/>
            <a:ext cx="2011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29184" y="3785616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メニュー説明文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2331720" y="3785616"/>
            <a:ext cx="1325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386584" y="3785616"/>
            <a:ext cx="1216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可変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3703320" y="3785616"/>
            <a:ext cx="1600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758184" y="3785616"/>
            <a:ext cx="1490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¥0.04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91" name="Shape 89"/>
          <p:cNvSpPr/>
          <p:nvPr/>
        </p:nvSpPr>
        <p:spPr>
          <a:xfrm>
            <a:off x="5349240" y="3785616"/>
            <a:ext cx="1600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404104" y="3785616"/>
            <a:ext cx="1490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¥0.49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93" name="Shape 91"/>
          <p:cNvSpPr/>
          <p:nvPr/>
        </p:nvSpPr>
        <p:spPr>
          <a:xfrm>
            <a:off x="6995160" y="3785616"/>
            <a:ext cx="1874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050024" y="3785616"/>
            <a:ext cx="1764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¥1.46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95" name="Shape 93"/>
          <p:cNvSpPr/>
          <p:nvPr/>
        </p:nvSpPr>
        <p:spPr>
          <a:xfrm>
            <a:off x="274320" y="4160520"/>
            <a:ext cx="8595360" cy="594360"/>
          </a:xfrm>
          <a:prstGeom prst="rect">
            <a:avLst/>
          </a:prstGeom>
          <a:solidFill>
            <a:srgbClr val="FFF8E6"/>
          </a:solidFill>
          <a:ln w="12700">
            <a:solidFill>
              <a:srgbClr val="C9700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74320" y="4160520"/>
            <a:ext cx="8595360" cy="59436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7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⚡ ブログ記事は要注意: </a:t>
            </a:r>
            <a:r>
              <a:rPr lang="en-US" sz="12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出力トークンが最多（約4,500tok）のため、モデル間のコスト差が最大。Gemini ¥0.30 vs Sonnet ¥10.94 で </a:t>
            </a:r>
            <a:r>
              <a:rPr lang="en-US" sz="1400" b="1" dirty="0">
                <a:solidFill>
                  <a:srgbClr val="E8614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約36倍</a:t>
            </a:r>
            <a:r>
              <a:rPr lang="en-US" sz="12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 の差が生じる。</a:t>
            </a:r>
            <a:endParaRPr lang="en-US" sz="1200" dirty="0">
              <a:latin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8614E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03  ユーザータイプ別 月間コスト試算</a:t>
            </a:r>
            <a:endParaRPr lang="en-US" sz="2000" dirty="0">
              <a:latin typeface="Meiryo UI" panose="020B060403050404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6126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FFCCC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MONTHLY COST BY USER TYPE</a:t>
            </a:r>
            <a:endParaRPr lang="en-US" sz="900" dirty="0">
              <a:latin typeface="Meiryo UI" panose="020B0604030504040204" pitchFamily="50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88920" cy="5486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Freeユーザー</a:t>
            </a:r>
            <a:endParaRPr lang="en-US" sz="1400" dirty="0">
              <a:latin typeface="Meiryo UI" panose="020B0604030504040204" pitchFamily="50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1316736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月30回上限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4320" y="1572768"/>
            <a:ext cx="822960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5727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利用内容</a:t>
            </a:r>
            <a:endParaRPr lang="en-US" sz="850" dirty="0">
              <a:latin typeface="Meiryo UI" panose="020B0604030504040204" pitchFamily="50" charset="-128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60120" y="1572768"/>
            <a:ext cx="658368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57276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Gemini</a:t>
            </a:r>
            <a:endParaRPr lang="en-US" sz="850" dirty="0">
              <a:latin typeface="Meiryo UI" panose="020B0604030504040204" pitchFamily="50" charset="-128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645920" y="1572768"/>
            <a:ext cx="658368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0" y="157276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Haiku</a:t>
            </a:r>
            <a:endParaRPr lang="en-US" sz="850" dirty="0">
              <a:latin typeface="Meiryo UI" panose="020B0604030504040204" pitchFamily="50" charset="-128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31720" y="1572768"/>
            <a:ext cx="658368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31720" y="157276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Sonnet</a:t>
            </a:r>
            <a:endParaRPr lang="en-US" sz="850" dirty="0">
              <a:latin typeface="Meiryo UI" panose="020B0604030504040204" pitchFamily="50" charset="-128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4320" y="1847088"/>
            <a:ext cx="82296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" y="1847088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短文生成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097280" y="1847088"/>
            <a:ext cx="63093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184708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7A3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¥0.80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755648" y="1847088"/>
            <a:ext cx="63093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55648" y="184708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809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¥9.60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414016" y="1847088"/>
            <a:ext cx="63093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14016" y="184708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614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¥28.60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74320" y="2167128"/>
            <a:ext cx="822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" y="2167128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ブログ記事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097280" y="2167128"/>
            <a:ext cx="63093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216712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7A3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¥1.50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755648" y="2167128"/>
            <a:ext cx="63093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55648" y="216712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809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¥18.25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414016" y="2167128"/>
            <a:ext cx="63093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14016" y="216712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614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¥54.70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74320" y="2487168"/>
            <a:ext cx="82296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" y="2487168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チャット修正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097280" y="2487168"/>
            <a:ext cx="63093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97280" y="248716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7A3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¥1.50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1755648" y="2487168"/>
            <a:ext cx="63093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55648" y="248716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809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¥16.95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2414016" y="2487168"/>
            <a:ext cx="63093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14016" y="248716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614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¥50.70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274320" y="2807208"/>
            <a:ext cx="822960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2807208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月間合計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1097280" y="2807208"/>
            <a:ext cx="630936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97280" y="2807208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¥3.80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1755648" y="2807208"/>
            <a:ext cx="630936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755648" y="2807208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¥44.80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2414016" y="2807208"/>
            <a:ext cx="630936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14016" y="2807208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¥134.00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3200400" y="1005840"/>
            <a:ext cx="278892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0" y="100584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Proライト</a:t>
            </a:r>
            <a:endParaRPr lang="en-US" sz="1400" dirty="0">
              <a:latin typeface="Meiryo UI" panose="020B0604030504040204" pitchFamily="50" charset="-128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3200400" y="1316736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月50〜100回程度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3200400" y="1572768"/>
            <a:ext cx="822960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0" y="15727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利用内容</a:t>
            </a:r>
            <a:endParaRPr lang="en-US" sz="850" dirty="0">
              <a:latin typeface="Meiryo UI" panose="020B0604030504040204" pitchFamily="50" charset="-128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3886200" y="1572768"/>
            <a:ext cx="658368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86200" y="157276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Gemini</a:t>
            </a:r>
            <a:endParaRPr lang="en-US" sz="850" dirty="0">
              <a:latin typeface="Meiryo UI" panose="020B0604030504040204" pitchFamily="50" charset="-128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4572000" y="1572768"/>
            <a:ext cx="658368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0" y="157276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Haiku</a:t>
            </a:r>
            <a:endParaRPr lang="en-US" sz="850" dirty="0">
              <a:latin typeface="Meiryo UI" panose="020B0604030504040204" pitchFamily="50" charset="-128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5257800" y="1572768"/>
            <a:ext cx="658368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57800" y="157276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Sonnet</a:t>
            </a:r>
            <a:endParaRPr lang="en-US" sz="850" dirty="0">
              <a:latin typeface="Meiryo UI" panose="020B0604030504040204" pitchFamily="50" charset="-128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3200400" y="1847088"/>
            <a:ext cx="82296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36976" y="1847088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短文生成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4023360" y="1847088"/>
            <a:ext cx="63093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023360" y="184708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7A3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¥1.60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4681728" y="1847088"/>
            <a:ext cx="63093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81728" y="184708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809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¥19.20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5340096" y="1847088"/>
            <a:ext cx="63093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40096" y="184708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614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¥57.20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3200400" y="2167128"/>
            <a:ext cx="822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236976" y="2167128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ブログ記事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4023360" y="2167128"/>
            <a:ext cx="63093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023360" y="216712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7A3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¥3.00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4681728" y="2167128"/>
            <a:ext cx="63093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681728" y="216712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809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¥36.50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5340096" y="2167128"/>
            <a:ext cx="63093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340096" y="216712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614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¥109.40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3200400" y="2487168"/>
            <a:ext cx="82296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236976" y="2487168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チャット修正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4023360" y="2487168"/>
            <a:ext cx="63093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023360" y="248716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7A3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¥5.00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4681728" y="2487168"/>
            <a:ext cx="63093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681728" y="248716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809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¥56.50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5340096" y="2487168"/>
            <a:ext cx="63093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340096" y="248716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614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¥169.00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83" name="Shape 81"/>
          <p:cNvSpPr/>
          <p:nvPr/>
        </p:nvSpPr>
        <p:spPr>
          <a:xfrm>
            <a:off x="3200400" y="2807208"/>
            <a:ext cx="82296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200400" y="2807208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月間合計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4023360" y="2807208"/>
            <a:ext cx="630936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023360" y="2807208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¥9.60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4681728" y="2807208"/>
            <a:ext cx="630936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681728" y="2807208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¥112.20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5340096" y="2807208"/>
            <a:ext cx="630936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340096" y="2807208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¥335.60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91" name="Shape 89"/>
          <p:cNvSpPr/>
          <p:nvPr/>
        </p:nvSpPr>
        <p:spPr>
          <a:xfrm>
            <a:off x="6126480" y="1005840"/>
            <a:ext cx="2788920" cy="548640"/>
          </a:xfrm>
          <a:prstGeom prst="rect">
            <a:avLst/>
          </a:prstGeom>
          <a:solidFill>
            <a:srgbClr val="E8614E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126480" y="100584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Proヘビー</a:t>
            </a:r>
            <a:endParaRPr lang="en-US" sz="1400" dirty="0">
              <a:latin typeface="Meiryo UI" panose="020B0604030504040204" pitchFamily="50" charset="-128"/>
            </a:endParaRPr>
          </a:p>
        </p:txBody>
      </p:sp>
      <p:sp>
        <p:nvSpPr>
          <p:cNvPr id="93" name="Text 91"/>
          <p:cNvSpPr/>
          <p:nvPr/>
        </p:nvSpPr>
        <p:spPr>
          <a:xfrm>
            <a:off x="6126480" y="1316736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フル活用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94" name="Shape 92"/>
          <p:cNvSpPr/>
          <p:nvPr/>
        </p:nvSpPr>
        <p:spPr>
          <a:xfrm>
            <a:off x="6126480" y="1572768"/>
            <a:ext cx="822960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126480" y="15727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利用内容</a:t>
            </a:r>
            <a:endParaRPr lang="en-US" sz="850" dirty="0">
              <a:latin typeface="Meiryo UI" panose="020B0604030504040204" pitchFamily="50" charset="-128"/>
            </a:endParaRPr>
          </a:p>
        </p:txBody>
      </p:sp>
      <p:sp>
        <p:nvSpPr>
          <p:cNvPr id="96" name="Shape 94"/>
          <p:cNvSpPr/>
          <p:nvPr/>
        </p:nvSpPr>
        <p:spPr>
          <a:xfrm>
            <a:off x="6812280" y="1572768"/>
            <a:ext cx="658368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812280" y="157276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Gemini</a:t>
            </a:r>
            <a:endParaRPr lang="en-US" sz="850" dirty="0">
              <a:latin typeface="Meiryo UI" panose="020B0604030504040204" pitchFamily="50" charset="-128"/>
            </a:endParaRPr>
          </a:p>
        </p:txBody>
      </p:sp>
      <p:sp>
        <p:nvSpPr>
          <p:cNvPr id="98" name="Shape 96"/>
          <p:cNvSpPr/>
          <p:nvPr/>
        </p:nvSpPr>
        <p:spPr>
          <a:xfrm>
            <a:off x="7498080" y="1572768"/>
            <a:ext cx="658368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498080" y="157276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Haiku</a:t>
            </a:r>
            <a:endParaRPr lang="en-US" sz="850" dirty="0">
              <a:latin typeface="Meiryo UI" panose="020B0604030504040204" pitchFamily="50" charset="-128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8183880" y="1572768"/>
            <a:ext cx="658368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183880" y="157276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Sonnet</a:t>
            </a:r>
            <a:endParaRPr lang="en-US" sz="850" dirty="0">
              <a:latin typeface="Meiryo UI" panose="020B0604030504040204" pitchFamily="50" charset="-128"/>
            </a:endParaRPr>
          </a:p>
        </p:txBody>
      </p:sp>
      <p:sp>
        <p:nvSpPr>
          <p:cNvPr id="102" name="Shape 100"/>
          <p:cNvSpPr/>
          <p:nvPr/>
        </p:nvSpPr>
        <p:spPr>
          <a:xfrm>
            <a:off x="6126480" y="1847088"/>
            <a:ext cx="82296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163056" y="1847088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短文生成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104" name="Shape 102"/>
          <p:cNvSpPr/>
          <p:nvPr/>
        </p:nvSpPr>
        <p:spPr>
          <a:xfrm>
            <a:off x="6949440" y="1847088"/>
            <a:ext cx="63093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949440" y="184708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7A3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¥4.00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06" name="Shape 104"/>
          <p:cNvSpPr/>
          <p:nvPr/>
        </p:nvSpPr>
        <p:spPr>
          <a:xfrm>
            <a:off x="7607808" y="1847088"/>
            <a:ext cx="63093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607808" y="184708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809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¥48.00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08" name="Shape 106"/>
          <p:cNvSpPr/>
          <p:nvPr/>
        </p:nvSpPr>
        <p:spPr>
          <a:xfrm>
            <a:off x="8266176" y="1847088"/>
            <a:ext cx="63093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266176" y="184708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614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¥143.00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10" name="Shape 108"/>
          <p:cNvSpPr/>
          <p:nvPr/>
        </p:nvSpPr>
        <p:spPr>
          <a:xfrm>
            <a:off x="6126480" y="2167128"/>
            <a:ext cx="822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163056" y="2167128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ブログ記事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112" name="Shape 110"/>
          <p:cNvSpPr/>
          <p:nvPr/>
        </p:nvSpPr>
        <p:spPr>
          <a:xfrm>
            <a:off x="6949440" y="2167128"/>
            <a:ext cx="63093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949440" y="216712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7A3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¥6.00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14" name="Shape 112"/>
          <p:cNvSpPr/>
          <p:nvPr/>
        </p:nvSpPr>
        <p:spPr>
          <a:xfrm>
            <a:off x="7607808" y="2167128"/>
            <a:ext cx="63093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7607808" y="216712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809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¥73.00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16" name="Shape 114"/>
          <p:cNvSpPr/>
          <p:nvPr/>
        </p:nvSpPr>
        <p:spPr>
          <a:xfrm>
            <a:off x="8266176" y="2167128"/>
            <a:ext cx="63093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8266176" y="216712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614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¥218.80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18" name="Shape 116"/>
          <p:cNvSpPr/>
          <p:nvPr/>
        </p:nvSpPr>
        <p:spPr>
          <a:xfrm>
            <a:off x="6126480" y="2487168"/>
            <a:ext cx="82296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163056" y="2487168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チャット修正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120" name="Shape 118"/>
          <p:cNvSpPr/>
          <p:nvPr/>
        </p:nvSpPr>
        <p:spPr>
          <a:xfrm>
            <a:off x="6949440" y="2487168"/>
            <a:ext cx="63093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949440" y="248716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7A3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¥10.00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22" name="Shape 120"/>
          <p:cNvSpPr/>
          <p:nvPr/>
        </p:nvSpPr>
        <p:spPr>
          <a:xfrm>
            <a:off x="7607808" y="2487168"/>
            <a:ext cx="63093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7607808" y="248716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809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¥113.00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24" name="Shape 122"/>
          <p:cNvSpPr/>
          <p:nvPr/>
        </p:nvSpPr>
        <p:spPr>
          <a:xfrm>
            <a:off x="8266176" y="2487168"/>
            <a:ext cx="63093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8266176" y="248716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614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¥338.00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26" name="Shape 124"/>
          <p:cNvSpPr/>
          <p:nvPr/>
        </p:nvSpPr>
        <p:spPr>
          <a:xfrm>
            <a:off x="6126480" y="2807208"/>
            <a:ext cx="822960" cy="411480"/>
          </a:xfrm>
          <a:prstGeom prst="rect">
            <a:avLst/>
          </a:prstGeom>
          <a:solidFill>
            <a:srgbClr val="E8614E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126480" y="2807208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月間合計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128" name="Shape 126"/>
          <p:cNvSpPr/>
          <p:nvPr/>
        </p:nvSpPr>
        <p:spPr>
          <a:xfrm>
            <a:off x="6949440" y="2807208"/>
            <a:ext cx="630936" cy="411480"/>
          </a:xfrm>
          <a:prstGeom prst="rect">
            <a:avLst/>
          </a:prstGeom>
          <a:solidFill>
            <a:srgbClr val="E8614E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6949440" y="2807208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¥20.00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130" name="Shape 128"/>
          <p:cNvSpPr/>
          <p:nvPr/>
        </p:nvSpPr>
        <p:spPr>
          <a:xfrm>
            <a:off x="7607808" y="2807208"/>
            <a:ext cx="630936" cy="411480"/>
          </a:xfrm>
          <a:prstGeom prst="rect">
            <a:avLst/>
          </a:prstGeom>
          <a:solidFill>
            <a:srgbClr val="E8614E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7607808" y="2807208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¥234.00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132" name="Shape 130"/>
          <p:cNvSpPr/>
          <p:nvPr/>
        </p:nvSpPr>
        <p:spPr>
          <a:xfrm>
            <a:off x="8266176" y="2807208"/>
            <a:ext cx="630936" cy="411480"/>
          </a:xfrm>
          <a:prstGeom prst="rect">
            <a:avLst/>
          </a:prstGeom>
          <a:solidFill>
            <a:srgbClr val="E8614E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8266176" y="2807208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¥699.80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134" name="Shape 132"/>
          <p:cNvSpPr/>
          <p:nvPr/>
        </p:nvSpPr>
        <p:spPr>
          <a:xfrm>
            <a:off x="274320" y="3337560"/>
            <a:ext cx="8595360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274320" y="33375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画像生成追加（Nanobanana 2 / 1K × 20枚 = ¥201）をProヘビーに加算した場合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136" name="Shape 134"/>
          <p:cNvSpPr/>
          <p:nvPr/>
        </p:nvSpPr>
        <p:spPr>
          <a:xfrm>
            <a:off x="274320" y="3611880"/>
            <a:ext cx="2926080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274320" y="3611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構成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138" name="Shape 136"/>
          <p:cNvSpPr/>
          <p:nvPr/>
        </p:nvSpPr>
        <p:spPr>
          <a:xfrm>
            <a:off x="3246120" y="3611880"/>
            <a:ext cx="1234440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3246120" y="36118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テキストAPI費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140" name="Shape 138"/>
          <p:cNvSpPr/>
          <p:nvPr/>
        </p:nvSpPr>
        <p:spPr>
          <a:xfrm>
            <a:off x="4526280" y="3611880"/>
            <a:ext cx="1005840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4526280" y="3611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画像API費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142" name="Shape 140"/>
          <p:cNvSpPr/>
          <p:nvPr/>
        </p:nvSpPr>
        <p:spPr>
          <a:xfrm>
            <a:off x="5577840" y="3611880"/>
            <a:ext cx="1143000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5577840" y="361188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API合計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144" name="Shape 142"/>
          <p:cNvSpPr/>
          <p:nvPr/>
        </p:nvSpPr>
        <p:spPr>
          <a:xfrm>
            <a:off x="6766560" y="3611880"/>
            <a:ext cx="1143000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6766560" y="361188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粗利（¥980）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146" name="Shape 144"/>
          <p:cNvSpPr/>
          <p:nvPr/>
        </p:nvSpPr>
        <p:spPr>
          <a:xfrm>
            <a:off x="7955280" y="3611880"/>
            <a:ext cx="1005840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7955280" y="3611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粗利率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148" name="Shape 146"/>
          <p:cNvSpPr/>
          <p:nvPr/>
        </p:nvSpPr>
        <p:spPr>
          <a:xfrm>
            <a:off x="274320" y="3886200"/>
            <a:ext cx="292608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310896" y="3886200"/>
            <a:ext cx="2852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Gemini Flash + Nanobanana 2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50" name="Shape 148"/>
          <p:cNvSpPr/>
          <p:nvPr/>
        </p:nvSpPr>
        <p:spPr>
          <a:xfrm>
            <a:off x="3246120" y="3886200"/>
            <a:ext cx="12344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3282696" y="3886200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¥20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52" name="Shape 150"/>
          <p:cNvSpPr/>
          <p:nvPr/>
        </p:nvSpPr>
        <p:spPr>
          <a:xfrm>
            <a:off x="4526280" y="3886200"/>
            <a:ext cx="10058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4562856" y="3886200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¥201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54" name="Shape 152"/>
          <p:cNvSpPr/>
          <p:nvPr/>
        </p:nvSpPr>
        <p:spPr>
          <a:xfrm>
            <a:off x="5577840" y="3886200"/>
            <a:ext cx="114300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5614416" y="3886200"/>
            <a:ext cx="1069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¥221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56" name="Shape 154"/>
          <p:cNvSpPr/>
          <p:nvPr/>
        </p:nvSpPr>
        <p:spPr>
          <a:xfrm>
            <a:off x="6766560" y="3886200"/>
            <a:ext cx="114300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6803136" y="3886200"/>
            <a:ext cx="1069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¥759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58" name="Shape 156"/>
          <p:cNvSpPr/>
          <p:nvPr/>
        </p:nvSpPr>
        <p:spPr>
          <a:xfrm>
            <a:off x="7955280" y="3886200"/>
            <a:ext cx="1005840" cy="347472"/>
          </a:xfrm>
          <a:prstGeom prst="rect">
            <a:avLst/>
          </a:prstGeom>
          <a:solidFill>
            <a:srgbClr val="E6F5E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7991856" y="3886200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7A3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✅ 77.4%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160" name="Shape 158"/>
          <p:cNvSpPr/>
          <p:nvPr/>
        </p:nvSpPr>
        <p:spPr>
          <a:xfrm>
            <a:off x="274320" y="4233672"/>
            <a:ext cx="2926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310896" y="4233672"/>
            <a:ext cx="2852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Haiku + Nanobanana 2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62" name="Shape 160"/>
          <p:cNvSpPr/>
          <p:nvPr/>
        </p:nvSpPr>
        <p:spPr>
          <a:xfrm>
            <a:off x="3246120" y="4233672"/>
            <a:ext cx="1234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3282696" y="423367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¥234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64" name="Shape 162"/>
          <p:cNvSpPr/>
          <p:nvPr/>
        </p:nvSpPr>
        <p:spPr>
          <a:xfrm>
            <a:off x="4526280" y="4233672"/>
            <a:ext cx="1005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4562856" y="4233672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¥201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66" name="Shape 164"/>
          <p:cNvSpPr/>
          <p:nvPr/>
        </p:nvSpPr>
        <p:spPr>
          <a:xfrm>
            <a:off x="5577840" y="4233672"/>
            <a:ext cx="11430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5614416" y="4233672"/>
            <a:ext cx="1069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¥435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68" name="Shape 166"/>
          <p:cNvSpPr/>
          <p:nvPr/>
        </p:nvSpPr>
        <p:spPr>
          <a:xfrm>
            <a:off x="6766560" y="4233672"/>
            <a:ext cx="11430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6803136" y="4233672"/>
            <a:ext cx="1069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¥545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70" name="Shape 168"/>
          <p:cNvSpPr/>
          <p:nvPr/>
        </p:nvSpPr>
        <p:spPr>
          <a:xfrm>
            <a:off x="7955280" y="4233672"/>
            <a:ext cx="1005840" cy="347472"/>
          </a:xfrm>
          <a:prstGeom prst="rect">
            <a:avLst/>
          </a:prstGeom>
          <a:solidFill>
            <a:srgbClr val="E6F5E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7991856" y="4233672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7A3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✅ 55.6%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172" name="Shape 170"/>
          <p:cNvSpPr/>
          <p:nvPr/>
        </p:nvSpPr>
        <p:spPr>
          <a:xfrm>
            <a:off x="274320" y="4581144"/>
            <a:ext cx="292608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310896" y="4581144"/>
            <a:ext cx="2852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Sonnet 4.6 + Nanobanana 2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74" name="Shape 172"/>
          <p:cNvSpPr/>
          <p:nvPr/>
        </p:nvSpPr>
        <p:spPr>
          <a:xfrm>
            <a:off x="3246120" y="4581144"/>
            <a:ext cx="12344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3282696" y="4581144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¥700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76" name="Shape 174"/>
          <p:cNvSpPr/>
          <p:nvPr/>
        </p:nvSpPr>
        <p:spPr>
          <a:xfrm>
            <a:off x="4526280" y="4581144"/>
            <a:ext cx="10058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4562856" y="4581144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¥201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78" name="Shape 176"/>
          <p:cNvSpPr/>
          <p:nvPr/>
        </p:nvSpPr>
        <p:spPr>
          <a:xfrm>
            <a:off x="5577840" y="4581144"/>
            <a:ext cx="114300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5614416" y="4581144"/>
            <a:ext cx="1069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¥901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80" name="Shape 178"/>
          <p:cNvSpPr/>
          <p:nvPr/>
        </p:nvSpPr>
        <p:spPr>
          <a:xfrm>
            <a:off x="6766560" y="4581144"/>
            <a:ext cx="114300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6803136" y="4581144"/>
            <a:ext cx="1069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¥79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82" name="Shape 180"/>
          <p:cNvSpPr/>
          <p:nvPr/>
        </p:nvSpPr>
        <p:spPr>
          <a:xfrm>
            <a:off x="7955280" y="4581144"/>
            <a:ext cx="1005840" cy="347472"/>
          </a:xfrm>
          <a:prstGeom prst="rect">
            <a:avLst/>
          </a:prstGeom>
          <a:solidFill>
            <a:srgbClr val="FDECE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7991856" y="4581144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C22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❌ 8.1%</a:t>
            </a:r>
            <a:endParaRPr lang="en-US" sz="1100" dirty="0">
              <a:latin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04  Pro ¥980/月 の粗利分析</a:t>
            </a:r>
            <a:endParaRPr lang="en-US" sz="2200" dirty="0">
              <a:latin typeface="Meiryo UI" panose="020B060403050404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6126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A8D5D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GROSS MARGIN ANALYSIS @ ¥980/MONTH</a:t>
            </a:r>
            <a:endParaRPr lang="en-US" sz="900" dirty="0">
              <a:latin typeface="Meiryo UI" panose="020B0604030504040204" pitchFamily="50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057400" cy="1920240"/>
          </a:xfrm>
          <a:prstGeom prst="rect">
            <a:avLst/>
          </a:prstGeom>
          <a:solidFill>
            <a:srgbClr val="F1F5F9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2057400" cy="384048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Gemini 2.0 Flash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274320" y="141732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B7A3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98%</a:t>
            </a:r>
            <a:endParaRPr lang="en-US" sz="4800" dirty="0">
              <a:latin typeface="Meiryo UI" panose="020B0604030504040204" pitchFamily="50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274320" y="233172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ヘビーユース粗利率</a:t>
            </a:r>
            <a:endParaRPr lang="en-US" sz="900" dirty="0">
              <a:latin typeface="Meiryo UI" panose="020B0604030504040204" pitchFamily="50" charset="-128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2920" y="2633472"/>
            <a:ext cx="1600200" cy="274320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334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✅ 最適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450592" y="1005840"/>
            <a:ext cx="2057400" cy="1920240"/>
          </a:xfrm>
          <a:prstGeom prst="rect">
            <a:avLst/>
          </a:prstGeom>
          <a:solidFill>
            <a:srgbClr val="F1F5F9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50592" y="1005840"/>
            <a:ext cx="20574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100584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Claude 4.5 Haiku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450592" y="141732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2809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76%</a:t>
            </a:r>
            <a:endParaRPr lang="en-US" sz="4800" dirty="0">
              <a:latin typeface="Meiryo UI" panose="020B0604030504040204" pitchFamily="50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450592" y="233172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ヘビーユース粗利率</a:t>
            </a:r>
            <a:endParaRPr lang="en-US" sz="900" dirty="0">
              <a:latin typeface="Meiryo UI" panose="020B0604030504040204" pitchFamily="50" charset="-128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679192" y="2633472"/>
            <a:ext cx="160020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79192" y="26334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✅ 可能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626864" y="1005840"/>
            <a:ext cx="2057400" cy="1920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26864" y="1005840"/>
            <a:ext cx="2057400" cy="384048"/>
          </a:xfrm>
          <a:prstGeom prst="rect">
            <a:avLst/>
          </a:prstGeom>
          <a:solidFill>
            <a:srgbClr val="E8614E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26864" y="100584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Sonnet 4.6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626864" y="141732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8614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29%</a:t>
            </a:r>
            <a:endParaRPr lang="en-US" sz="4800" dirty="0">
              <a:latin typeface="Meiryo UI" panose="020B0604030504040204" pitchFamily="50" charset="-128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626864" y="233172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ヘビーユース粗利率</a:t>
            </a:r>
            <a:endParaRPr lang="en-US" sz="900" dirty="0">
              <a:latin typeface="Meiryo UI" panose="020B0604030504040204" pitchFamily="50" charset="-128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855464" y="2633472"/>
            <a:ext cx="1600200" cy="274320"/>
          </a:xfrm>
          <a:prstGeom prst="rect">
            <a:avLst/>
          </a:prstGeom>
          <a:solidFill>
            <a:srgbClr val="E8614E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55464" y="26334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⚠️ 薄利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803136" y="1005840"/>
            <a:ext cx="2057400" cy="1920240"/>
          </a:xfrm>
          <a:prstGeom prst="rect">
            <a:avLst/>
          </a:prstGeom>
          <a:solidFill>
            <a:srgbClr val="F1F5F9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03136" y="1005840"/>
            <a:ext cx="2057400" cy="384048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03136" y="100584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Sonnet + 画像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803136" y="141732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CC22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8%</a:t>
            </a:r>
            <a:endParaRPr lang="en-US" sz="4800" dirty="0">
              <a:latin typeface="Meiryo UI" panose="020B0604030504040204" pitchFamily="50" charset="-128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803136" y="233172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ヘビーユース粗利率</a:t>
            </a:r>
            <a:endParaRPr lang="en-US" sz="900" dirty="0">
              <a:latin typeface="Meiryo UI" panose="020B0604030504040204" pitchFamily="50" charset="-128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031736" y="2633472"/>
            <a:ext cx="1600200" cy="2743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31736" y="26334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❌ 要値上げ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274320" y="3063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判定サマリー</a:t>
            </a:r>
            <a:endParaRPr lang="en-US" sz="1400" dirty="0">
              <a:latin typeface="Meiryo UI" panose="020B0604030504040204" pitchFamily="50" charset="-128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274320" y="3429000"/>
            <a:ext cx="3337560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342900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構成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3657600" y="3429000"/>
            <a:ext cx="1417320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0" y="342900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粗利率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120640" y="3429000"/>
            <a:ext cx="1325880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0" y="34290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判定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492240" y="3429000"/>
            <a:ext cx="2423160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34290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コメント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274320" y="3703320"/>
            <a:ext cx="333756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0896" y="3703320"/>
            <a:ext cx="3264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Gemini Flash（テキストのみ）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3657600" y="3703320"/>
            <a:ext cx="14173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94176" y="3703320"/>
            <a:ext cx="1344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粗利98%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5120640" y="3703320"/>
            <a:ext cx="1325880" cy="237744"/>
          </a:xfrm>
          <a:prstGeom prst="rect">
            <a:avLst/>
          </a:prstGeom>
          <a:solidFill>
            <a:srgbClr val="E6F5E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57216" y="3703320"/>
            <a:ext cx="12527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7A3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✅ 最適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492240" y="3703320"/>
            <a:ext cx="242316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28816" y="3703320"/>
            <a:ext cx="2350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ヘビーユーザーでも余裕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274320" y="3941064"/>
            <a:ext cx="33375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10896" y="3941064"/>
            <a:ext cx="3264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Gemini Flash + Nanobanana 2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3657600" y="3941064"/>
            <a:ext cx="14173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94176" y="3941064"/>
            <a:ext cx="1344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粗利77%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5120640" y="3941064"/>
            <a:ext cx="1325880" cy="237744"/>
          </a:xfrm>
          <a:prstGeom prst="rect">
            <a:avLst/>
          </a:prstGeom>
          <a:solidFill>
            <a:srgbClr val="E6F5E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157216" y="3941064"/>
            <a:ext cx="12527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7A3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✅ 推奨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6492240" y="3941064"/>
            <a:ext cx="24231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28816" y="3941064"/>
            <a:ext cx="2350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画像込みでも健全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274320" y="4178808"/>
            <a:ext cx="333756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10896" y="4178808"/>
            <a:ext cx="3264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Claude 4.5 Haiku（テキスト）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3657600" y="4178808"/>
            <a:ext cx="14173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94176" y="4178808"/>
            <a:ext cx="1344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粗利76〜89%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5120640" y="4178808"/>
            <a:ext cx="1325880" cy="237744"/>
          </a:xfrm>
          <a:prstGeom prst="rect">
            <a:avLst/>
          </a:prstGeom>
          <a:solidFill>
            <a:srgbClr val="E6F4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157216" y="4178808"/>
            <a:ext cx="12527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809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✅ 可能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6492240" y="4178808"/>
            <a:ext cx="242316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28816" y="4178808"/>
            <a:ext cx="2350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十分なマージン確保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274320" y="4416552"/>
            <a:ext cx="33375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10896" y="4416552"/>
            <a:ext cx="3264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Haiku + Nanobanana 2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3657600" y="4416552"/>
            <a:ext cx="14173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94176" y="4416552"/>
            <a:ext cx="1344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粗利56%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5120640" y="4416552"/>
            <a:ext cx="1325880" cy="237744"/>
          </a:xfrm>
          <a:prstGeom prst="rect">
            <a:avLst/>
          </a:prstGeom>
          <a:solidFill>
            <a:srgbClr val="FFF8E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157216" y="4416552"/>
            <a:ext cx="12527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97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⚠️ 要注意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6492240" y="4416552"/>
            <a:ext cx="24231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528816" y="4416552"/>
            <a:ext cx="2350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ヘビーユーザーで薄利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274320" y="4654296"/>
            <a:ext cx="333756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10896" y="4654296"/>
            <a:ext cx="3264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Sonnet 4.6（テキスト）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3657600" y="4654296"/>
            <a:ext cx="14173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694176" y="4654296"/>
            <a:ext cx="1344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粗利29〜66%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5120640" y="4654296"/>
            <a:ext cx="1325880" cy="237744"/>
          </a:xfrm>
          <a:prstGeom prst="rect">
            <a:avLst/>
          </a:prstGeom>
          <a:solidFill>
            <a:srgbClr val="FDECE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157216" y="4654296"/>
            <a:ext cx="12527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C22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⚠️ 薄利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6492240" y="4654296"/>
            <a:ext cx="242316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528816" y="4654296"/>
            <a:ext cx="2350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ヘビーユーザーで赤字リスク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274320" y="4892040"/>
            <a:ext cx="33375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10896" y="4892040"/>
            <a:ext cx="3264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Sonnet 4.6 + Nanobanana 2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3657600" y="4892040"/>
            <a:ext cx="14173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694176" y="4892040"/>
            <a:ext cx="1344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粗利8%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5120640" y="4892040"/>
            <a:ext cx="1325880" cy="237744"/>
          </a:xfrm>
          <a:prstGeom prst="rect">
            <a:avLst/>
          </a:prstGeom>
          <a:solidFill>
            <a:srgbClr val="FDECE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157216" y="4892040"/>
            <a:ext cx="12527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C22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❌ 不可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6492240" y="4892040"/>
            <a:ext cx="24231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528816" y="4892040"/>
            <a:ext cx="2350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¥2,980〜が必要</a:t>
            </a:r>
            <a:endParaRPr lang="en-US" sz="950" dirty="0">
              <a:latin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05  画像生成 Nanobanana 2 — コストと注意事項</a:t>
            </a:r>
            <a:endParaRPr lang="en-US" sz="2000" dirty="0">
              <a:latin typeface="Meiryo UI" panose="020B060403050404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6126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888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IMAGE GENERATION COSTS &amp; USAGE POLICY</a:t>
            </a:r>
            <a:endParaRPr lang="en-US" sz="900" dirty="0">
              <a:latin typeface="Meiryo UI" panose="020B0604030504040204" pitchFamily="50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Nanobanana 2（Gemini 3.1 Flash Image）解像度別料金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2057400" cy="1828800"/>
          </a:xfrm>
          <a:prstGeom prst="rect">
            <a:avLst/>
          </a:prstGeom>
          <a:solidFill>
            <a:srgbClr val="E6F4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89888"/>
            <a:ext cx="205740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8988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0.5K</a:t>
            </a:r>
            <a:endParaRPr lang="en-US" sz="1800" dirty="0">
              <a:latin typeface="Meiryo UI" panose="020B0604030504040204" pitchFamily="50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80160" y="1389888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512px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0040" y="1874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標準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0040" y="21214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¥6.75</a:t>
            </a:r>
            <a:endParaRPr lang="en-US" sz="2000" dirty="0">
              <a:latin typeface="Meiryo UI" panose="020B0604030504040204" pitchFamily="50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0040" y="24871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バッチ: ¥3.30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0040" y="276148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サムネイル</a:t>
            </a:r>
            <a:endParaRPr lang="en-US" sz="1000" dirty="0">
              <a:latin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SNSアイコン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468880" y="1389888"/>
            <a:ext cx="2057400" cy="1828800"/>
          </a:xfrm>
          <a:prstGeom prst="rect">
            <a:avLst/>
          </a:prstGeom>
          <a:solidFill>
            <a:srgbClr val="FFF3F1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68880" y="1389888"/>
            <a:ext cx="2057400" cy="411480"/>
          </a:xfrm>
          <a:prstGeom prst="rect">
            <a:avLst/>
          </a:prstGeom>
          <a:solidFill>
            <a:srgbClr val="E8614E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138988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1K</a:t>
            </a:r>
            <a:endParaRPr lang="en-US" sz="1800" dirty="0">
              <a:latin typeface="Meiryo UI" panose="020B0604030504040204" pitchFamily="50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474720" y="1389888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1024px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749040" y="1417320"/>
            <a:ext cx="73152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141732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614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★推奨</a:t>
            </a:r>
            <a:endParaRPr lang="en-US" sz="900" dirty="0">
              <a:latin typeface="Meiryo UI" panose="020B0604030504040204" pitchFamily="50" charset="-12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514600" y="1874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標準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514600" y="21214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614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¥10.05</a:t>
            </a:r>
            <a:endParaRPr lang="en-US" sz="2000" dirty="0">
              <a:latin typeface="Meiryo UI" panose="020B0604030504040204" pitchFamily="50" charset="-128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514600" y="24871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バッチ: ¥5.10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514600" y="276148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ブログバナー</a:t>
            </a:r>
            <a:endParaRPr lang="en-US" sz="1000" dirty="0">
              <a:latin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SNS投稿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663440" y="1389888"/>
            <a:ext cx="2057400" cy="1828800"/>
          </a:xfrm>
          <a:prstGeom prst="rect">
            <a:avLst/>
          </a:prstGeom>
          <a:solidFill>
            <a:srgbClr val="E6F4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1389888"/>
            <a:ext cx="205740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38988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2K</a:t>
            </a:r>
            <a:endParaRPr lang="en-US" sz="1800" dirty="0">
              <a:latin typeface="Meiryo UI" panose="020B0604030504040204" pitchFamily="50" charset="-128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669280" y="1389888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2048px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709160" y="1874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標準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709160" y="21214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¥15.15</a:t>
            </a:r>
            <a:endParaRPr lang="en-US" sz="2000" dirty="0">
              <a:latin typeface="Meiryo UI" panose="020B0604030504040204" pitchFamily="50" charset="-128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709160" y="24871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バッチ: ¥7.50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709160" y="276148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高品質バナー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858000" y="1389888"/>
            <a:ext cx="2057400" cy="1828800"/>
          </a:xfrm>
          <a:prstGeom prst="rect">
            <a:avLst/>
          </a:prstGeom>
          <a:solidFill>
            <a:srgbClr val="E6F4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0" y="1389888"/>
            <a:ext cx="205740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138988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4K</a:t>
            </a:r>
            <a:endParaRPr lang="en-US" sz="1800" dirty="0">
              <a:latin typeface="Meiryo UI" panose="020B0604030504040204" pitchFamily="50" charset="-128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863840" y="1389888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4096px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903720" y="1874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標準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903720" y="21214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¥22.65</a:t>
            </a:r>
            <a:endParaRPr lang="en-US" sz="2000" dirty="0">
              <a:latin typeface="Meiryo UI" panose="020B0604030504040204" pitchFamily="50" charset="-128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903720" y="24871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バッチ: ¥11.40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903720" y="276148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ポスター</a:t>
            </a:r>
            <a:endParaRPr lang="en-US" sz="1000" dirty="0">
              <a:latin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印刷物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274320" y="3337560"/>
            <a:ext cx="5029200" cy="2743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3337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⚠️  HPB規約との関係 — 重要</a:t>
            </a:r>
            <a:endParaRPr lang="en-US" sz="1200" dirty="0">
              <a:latin typeface="Meiryo UI" panose="020B0604030504040204" pitchFamily="50" charset="-128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274320" y="3611880"/>
            <a:ext cx="3383280" cy="274320"/>
          </a:xfrm>
          <a:prstGeom prst="rect">
            <a:avLst/>
          </a:prstGeom>
          <a:solidFill>
            <a:srgbClr val="FDECE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184" y="3611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HPBブログのバナー画像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2706624" y="3611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22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HPB掲載 不可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274320" y="3886200"/>
            <a:ext cx="3383280" cy="274320"/>
          </a:xfrm>
          <a:prstGeom prst="rect">
            <a:avLst/>
          </a:prstGeom>
          <a:solidFill>
            <a:srgbClr val="FDECE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9184" y="3886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HPBスタイル写真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2706624" y="3886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22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HPB掲載 不可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274320" y="4160520"/>
            <a:ext cx="3383280" cy="274320"/>
          </a:xfrm>
          <a:prstGeom prst="rect">
            <a:avLst/>
          </a:prstGeom>
          <a:solidFill>
            <a:srgbClr val="E6F5E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9184" y="4160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SNS投稿用（Instagram等）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2706624" y="4160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7A3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✅ 推奨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274320" y="4434840"/>
            <a:ext cx="3383280" cy="274320"/>
          </a:xfrm>
          <a:prstGeom prst="rect">
            <a:avLst/>
          </a:prstGeom>
          <a:solidFill>
            <a:srgbClr val="E6F5E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9184" y="4434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自社Webサイト・ブログ用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2706624" y="4434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7A3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✅ 推奨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274320" y="4709160"/>
            <a:ext cx="3383280" cy="274320"/>
          </a:xfrm>
          <a:prstGeom prst="rect">
            <a:avLst/>
          </a:prstGeom>
          <a:solidFill>
            <a:srgbClr val="E6F5E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9184" y="4709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スタッフ教育資料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2706624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7A3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✅ 推奨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5486400" y="3337560"/>
            <a:ext cx="342900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0" y="33375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コスト管理の推奨事項</a:t>
            </a:r>
            <a:endParaRPr lang="en-US" sz="1200" dirty="0">
              <a:latin typeface="Meiryo UI" panose="020B0604030504040204" pitchFamily="50" charset="-128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5486400" y="3611880"/>
            <a:ext cx="3429000" cy="274320"/>
          </a:xfrm>
          <a:prstGeom prst="rect">
            <a:avLst/>
          </a:prstGeom>
          <a:solidFill>
            <a:srgbClr val="E6F4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41264" y="3611880"/>
            <a:ext cx="3319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• 月間上限設定（Pro: 20〜30枚 / Team: 100枚）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5486400" y="3886200"/>
            <a:ext cx="34290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541264" y="3886200"/>
            <a:ext cx="3319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• デフォルト解像度は 1K に統一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5486400" y="4160520"/>
            <a:ext cx="3429000" cy="274320"/>
          </a:xfrm>
          <a:prstGeom prst="rect">
            <a:avLst/>
          </a:prstGeom>
          <a:solidFill>
            <a:srgbClr val="E6F4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541264" y="4160520"/>
            <a:ext cx="3319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• 高解像度はオプション選択制に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5486400" y="4434840"/>
            <a:ext cx="34290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541264" y="4434840"/>
            <a:ext cx="3319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• 生成済み画像のキャッシュ・再利用で抑制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5486400" y="4709160"/>
            <a:ext cx="3429000" cy="274320"/>
          </a:xfrm>
          <a:prstGeom prst="rect">
            <a:avLst/>
          </a:prstGeom>
          <a:solidFill>
            <a:srgbClr val="E6F4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541264" y="4709160"/>
            <a:ext cx="3319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• usage_tracking で枚数・解像度を個別計上</a:t>
            </a:r>
            <a:endParaRPr lang="en-US" sz="1000" dirty="0">
              <a:latin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06  モデル選定の推奨方針・将来の値上げ余地</a:t>
            </a:r>
            <a:endParaRPr lang="en-US" sz="2000" dirty="0">
              <a:latin typeface="Meiryo UI" panose="020B060403050404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6126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A8D5D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RECOMMENDED MODEL STRATEGY &amp; PRICING ROADMAP</a:t>
            </a:r>
            <a:endParaRPr lang="en-US" sz="900" dirty="0">
              <a:latin typeface="Meiryo UI" panose="020B0604030504040204" pitchFamily="50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フェーズ別推奨構成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2057400" cy="2148840"/>
          </a:xfrm>
          <a:prstGeom prst="rect">
            <a:avLst/>
          </a:prstGeom>
          <a:solidFill>
            <a:srgbClr val="F1F5F9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89888"/>
            <a:ext cx="2057400" cy="457200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8988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Phase 1</a:t>
            </a:r>
            <a:endParaRPr lang="en-US" sz="1200" dirty="0">
              <a:latin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MVP</a:t>
            </a:r>
            <a:endParaRPr lang="en-US" sz="1200" dirty="0">
              <a:latin typeface="Meiryo UI" panose="020B0604030504040204" pitchFamily="50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" y="19202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テキスト: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60120" y="19202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Gemini 2.0 Flash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0040" y="226771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画像: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60120" y="2267712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なし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0040" y="261518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月額: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60120" y="2615184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¥980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0040" y="296265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粗利率: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60120" y="2962656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7A3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98%</a:t>
            </a:r>
            <a:endParaRPr lang="en-US" sz="1500" dirty="0">
              <a:latin typeface="Meiryo UI" panose="020B0604030504040204" pitchFamily="50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0040" y="3337560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最安コストで市場検証</a:t>
            </a:r>
            <a:endParaRPr lang="en-US" sz="850" dirty="0">
              <a:latin typeface="Meiryo UI" panose="020B0604030504040204" pitchFamily="50" charset="-128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468880" y="1389888"/>
            <a:ext cx="2057400" cy="2148840"/>
          </a:xfrm>
          <a:prstGeom prst="rect">
            <a:avLst/>
          </a:prstGeom>
          <a:solidFill>
            <a:srgbClr val="F1F5F9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68880" y="1389888"/>
            <a:ext cx="20574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68880" y="138988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Phase 2</a:t>
            </a:r>
            <a:endParaRPr lang="en-US" sz="1200" dirty="0">
              <a:latin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画像追加</a:t>
            </a:r>
            <a:endParaRPr lang="en-US" sz="1200" dirty="0">
              <a:latin typeface="Meiryo UI" panose="020B0604030504040204" pitchFamily="50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514600" y="19202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テキスト: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154680" y="19202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Gemini 2.0 Flash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514600" y="226771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画像: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154680" y="2267712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Nanobanana 2 (1K)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514600" y="261518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月額: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154680" y="2615184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¥980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514600" y="296265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粗利率: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154680" y="2962656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77%</a:t>
            </a:r>
            <a:endParaRPr lang="en-US" sz="1500" dirty="0">
              <a:latin typeface="Meiryo UI" panose="020B0604030504040204" pitchFamily="50" charset="-128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514600" y="3337560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テキスト+画像でも粗利健全</a:t>
            </a:r>
            <a:endParaRPr lang="en-US" sz="850" dirty="0">
              <a:latin typeface="Meiryo UI" panose="020B0604030504040204" pitchFamily="50" charset="-128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663440" y="1389888"/>
            <a:ext cx="2057400" cy="2148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97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1389888"/>
            <a:ext cx="2057400" cy="457200"/>
          </a:xfrm>
          <a:prstGeom prst="rect">
            <a:avLst/>
          </a:prstGeom>
          <a:solidFill>
            <a:srgbClr val="C97000"/>
          </a:solidFill>
          <a:ln w="12700">
            <a:solidFill>
              <a:srgbClr val="C97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138988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品質向上</a:t>
            </a:r>
            <a:endParaRPr lang="en-US" sz="1200" dirty="0">
              <a:latin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検討時</a:t>
            </a:r>
            <a:endParaRPr lang="en-US" sz="1200" dirty="0">
              <a:latin typeface="Meiryo UI" panose="020B0604030504040204" pitchFamily="50" charset="-128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709160" y="19202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テキスト: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349240" y="19202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Claude 4.5 Haiku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709160" y="226771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画像: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349240" y="2267712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Nanobanana 2 (1K)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709160" y="261518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月額: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349240" y="2615184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¥980〜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709160" y="296265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粗利率: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349240" y="2962656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7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56%+</a:t>
            </a:r>
            <a:endParaRPr lang="en-US" sz="1500" dirty="0">
              <a:latin typeface="Meiryo UI" panose="020B0604030504040204" pitchFamily="50" charset="-128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709160" y="3337560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生成品質UP。値上げも検討</a:t>
            </a:r>
            <a:endParaRPr lang="en-US" sz="850" dirty="0">
              <a:latin typeface="Meiryo UI" panose="020B0604030504040204" pitchFamily="50" charset="-128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858000" y="1389888"/>
            <a:ext cx="2057400" cy="2148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58000" y="1389888"/>
            <a:ext cx="2057400" cy="457200"/>
          </a:xfrm>
          <a:prstGeom prst="rect">
            <a:avLst/>
          </a:prstGeom>
          <a:solidFill>
            <a:srgbClr val="E8614E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0" y="138988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プレミアム</a:t>
            </a:r>
            <a:endParaRPr lang="en-US" sz="1200" dirty="0">
              <a:latin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品質</a:t>
            </a:r>
            <a:endParaRPr lang="en-US" sz="1200" dirty="0">
              <a:latin typeface="Meiryo UI" panose="020B0604030504040204" pitchFamily="50" charset="-128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903720" y="19202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テキスト: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543800" y="19202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Claude Sonnet 4.6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903720" y="226771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画像: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7543800" y="2267712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Nanobanana 2 (1K)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903720" y="261518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月額: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7543800" y="2615184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¥2,980〜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903720" y="296265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粗利率: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7543800" y="2962656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614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72%</a:t>
            </a:r>
            <a:endParaRPr lang="en-US" sz="1500" dirty="0">
              <a:latin typeface="Meiryo UI" panose="020B0604030504040204" pitchFamily="50" charset="-128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903720" y="3337560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要値上げ。ユーザー100+店舗後</a:t>
            </a:r>
            <a:endParaRPr lang="en-US" sz="850" dirty="0">
              <a:latin typeface="Meiryo UI" panose="020B0604030504040204" pitchFamily="50" charset="-128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27432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将来のティア分け案（モデル差別化時）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274320" y="4023360"/>
            <a:ext cx="2057400" cy="292608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402336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プラン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2377440" y="4023360"/>
            <a:ext cx="1371600" cy="292608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377440" y="40233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月額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3794760" y="4023360"/>
            <a:ext cx="2194560" cy="292608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794760" y="40233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テキストモデル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6035040" y="4023360"/>
            <a:ext cx="1508760" cy="292608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35040" y="402336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画像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7589520" y="4023360"/>
            <a:ext cx="1325880" cy="292608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589520" y="402336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想定粗利率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274320" y="4315968"/>
            <a:ext cx="2057400" cy="292608"/>
          </a:xfrm>
          <a:prstGeom prst="rect">
            <a:avLst/>
          </a:prstGeom>
          <a:solidFill>
            <a:srgbClr val="1B7A3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10896" y="4315968"/>
            <a:ext cx="1984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Pro（Standard）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2377440" y="4315968"/>
            <a:ext cx="137160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414016" y="4315968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¥980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3794760" y="4315968"/>
            <a:ext cx="219456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831336" y="4315968"/>
            <a:ext cx="21214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Gemini Flash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6035040" y="4315968"/>
            <a:ext cx="150876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071616" y="4315968"/>
            <a:ext cx="1435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Nanobanana 2 (20枚)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7589520" y="4315968"/>
            <a:ext cx="132588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626096" y="4315968"/>
            <a:ext cx="1252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77%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274320" y="4608576"/>
            <a:ext cx="20574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10896" y="4608576"/>
            <a:ext cx="1984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Pro（Quality）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2377440" y="4608576"/>
            <a:ext cx="13716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414016" y="4608576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¥1,980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3794760" y="4608576"/>
            <a:ext cx="21945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831336" y="4608576"/>
            <a:ext cx="21214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Claude 4.5 Haiku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6035040" y="4608576"/>
            <a:ext cx="15087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071616" y="4608576"/>
            <a:ext cx="1435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Nanobanana 2 (30枚)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83" name="Shape 81"/>
          <p:cNvSpPr/>
          <p:nvPr/>
        </p:nvSpPr>
        <p:spPr>
          <a:xfrm>
            <a:off x="7589520" y="4608576"/>
            <a:ext cx="13258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626096" y="4608576"/>
            <a:ext cx="1252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72%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274320" y="4901184"/>
            <a:ext cx="2057400" cy="292608"/>
          </a:xfrm>
          <a:prstGeom prst="rect">
            <a:avLst/>
          </a:prstGeom>
          <a:solidFill>
            <a:srgbClr val="5C3A8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10896" y="4901184"/>
            <a:ext cx="1984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Pro（Premium）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2377440" y="4901184"/>
            <a:ext cx="137160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414016" y="4901184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¥3,980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3794760" y="4901184"/>
            <a:ext cx="219456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831336" y="4901184"/>
            <a:ext cx="21214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Claude Sonnet 4.6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91" name="Shape 89"/>
          <p:cNvSpPr/>
          <p:nvPr/>
        </p:nvSpPr>
        <p:spPr>
          <a:xfrm>
            <a:off x="6035040" y="4901184"/>
            <a:ext cx="150876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071616" y="4901184"/>
            <a:ext cx="1435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Nanobanana 2 (50枚)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93" name="Shape 91"/>
          <p:cNvSpPr/>
          <p:nvPr/>
        </p:nvSpPr>
        <p:spPr>
          <a:xfrm>
            <a:off x="7589520" y="4901184"/>
            <a:ext cx="132588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626096" y="4901184"/>
            <a:ext cx="1252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72%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95" name="Shape 93"/>
          <p:cNvSpPr/>
          <p:nvPr/>
        </p:nvSpPr>
        <p:spPr>
          <a:xfrm>
            <a:off x="274320" y="5193792"/>
            <a:ext cx="2057400" cy="292608"/>
          </a:xfrm>
          <a:prstGeom prst="rect">
            <a:avLst/>
          </a:prstGeom>
          <a:solidFill>
            <a:srgbClr val="1A2E3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10896" y="5193792"/>
            <a:ext cx="1984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Team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97" name="Shape 95"/>
          <p:cNvSpPr/>
          <p:nvPr/>
        </p:nvSpPr>
        <p:spPr>
          <a:xfrm>
            <a:off x="2377440" y="5193792"/>
            <a:ext cx="13716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414016" y="5193792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要問い合わせ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99" name="Shape 97"/>
          <p:cNvSpPr/>
          <p:nvPr/>
        </p:nvSpPr>
        <p:spPr>
          <a:xfrm>
            <a:off x="3794760" y="5193792"/>
            <a:ext cx="21945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831336" y="5193792"/>
            <a:ext cx="21214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選択可能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01" name="Shape 99"/>
          <p:cNvSpPr/>
          <p:nvPr/>
        </p:nvSpPr>
        <p:spPr>
          <a:xfrm>
            <a:off x="6035040" y="5193792"/>
            <a:ext cx="15087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071616" y="5193792"/>
            <a:ext cx="1435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無制限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03" name="Shape 101"/>
          <p:cNvSpPr/>
          <p:nvPr/>
        </p:nvSpPr>
        <p:spPr>
          <a:xfrm>
            <a:off x="7589520" y="5193792"/>
            <a:ext cx="13258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626096" y="5193792"/>
            <a:ext cx="1252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—</a:t>
            </a:r>
            <a:endParaRPr lang="en-US" sz="1000" dirty="0">
              <a:latin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まとめ — ¥980 の総合判定</a:t>
            </a:r>
            <a:endParaRPr lang="en-US" sz="2800" dirty="0">
              <a:latin typeface="Meiryo UI" panose="020B060403050404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A8D5D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OVERALL VERDICT ON ¥980 PRICING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2743200" cy="1828800"/>
          </a:xfrm>
          <a:prstGeom prst="rect">
            <a:avLst/>
          </a:prstGeom>
          <a:solidFill>
            <a:srgbClr val="1E3A42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5544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Meiryo UI" panose="020B0604030504040204" pitchFamily="50" charset="-128"/>
              </a:rPr>
              <a:t>✅</a:t>
            </a:r>
            <a:endParaRPr lang="en-US" sz="2600" dirty="0">
              <a:latin typeface="Meiryo UI" panose="020B0604030504040204" pitchFamily="50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20299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Gemini Flash 構成</a:t>
            </a:r>
            <a:endParaRPr lang="en-US" sz="1400" dirty="0">
              <a:latin typeface="Meiryo UI" panose="020B0604030504040204" pitchFamily="50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274320" y="2395728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D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粗利77〜99%</a:t>
            </a:r>
            <a:endParaRPr lang="en-US" sz="1100" dirty="0">
              <a:latin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C8D8D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画像込みでも長期持続可能</a:t>
            </a:r>
            <a:endParaRPr lang="en-US" sz="1100" dirty="0">
              <a:latin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C8D8D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→ Phase 1〜2 の標準構成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154680" y="1508760"/>
            <a:ext cx="2743200" cy="1828800"/>
          </a:xfrm>
          <a:prstGeom prst="rect">
            <a:avLst/>
          </a:prstGeom>
          <a:solidFill>
            <a:srgbClr val="1E3A42"/>
          </a:solidFill>
          <a:ln w="12700">
            <a:solidFill>
              <a:srgbClr val="C97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15544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Meiryo UI" panose="020B0604030504040204" pitchFamily="50" charset="-128"/>
              </a:rPr>
              <a:t>⚠️</a:t>
            </a:r>
            <a:endParaRPr lang="en-US" sz="2600" dirty="0">
              <a:latin typeface="Meiryo UI" panose="020B0604030504040204" pitchFamily="50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154680" y="20299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Claude Haiku 構成</a:t>
            </a:r>
            <a:endParaRPr lang="en-US" sz="1400" dirty="0">
              <a:latin typeface="Meiryo UI" panose="020B0604030504040204" pitchFamily="50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154680" y="2395728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D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粗利56〜89%</a:t>
            </a:r>
            <a:endParaRPr lang="en-US" sz="1100" dirty="0">
              <a:latin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C8D8D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品質向上とセットで検討</a:t>
            </a:r>
            <a:endParaRPr lang="en-US" sz="1100" dirty="0">
              <a:latin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C8D8D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→ PMF達成後に¥1,480〜へ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035040" y="1508760"/>
            <a:ext cx="2743200" cy="1828800"/>
          </a:xfrm>
          <a:prstGeom prst="rect">
            <a:avLst/>
          </a:prstGeom>
          <a:solidFill>
            <a:srgbClr val="1E3A42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5544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Meiryo UI" panose="020B0604030504040204" pitchFamily="50" charset="-128"/>
              </a:rPr>
              <a:t>❌</a:t>
            </a:r>
            <a:endParaRPr lang="en-US" sz="2600" dirty="0">
              <a:latin typeface="Meiryo UI" panose="020B0604030504040204" pitchFamily="50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035040" y="20299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Claude Sonnet 構成</a:t>
            </a:r>
            <a:endParaRPr lang="en-US" sz="1400" dirty="0">
              <a:latin typeface="Meiryo UI" panose="020B0604030504040204" pitchFamily="50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035040" y="2395728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D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粗利8〜66%（画像込みは8%）</a:t>
            </a:r>
            <a:endParaRPr lang="en-US" sz="1100" dirty="0">
              <a:latin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C8D8D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¥980では持続不可能</a:t>
            </a:r>
            <a:endParaRPr lang="en-US" sz="1100" dirty="0">
              <a:latin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C8D8D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→ ¥2,980〜 が必須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74320" y="3429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評価項目サマリー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74320" y="3794760"/>
            <a:ext cx="6858000" cy="256032"/>
          </a:xfrm>
          <a:prstGeom prst="rect">
            <a:avLst/>
          </a:prstGeom>
          <a:solidFill>
            <a:srgbClr val="1B3C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" y="37947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¥980 × Gemini Flash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255264" y="37947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D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余裕あり（粗利 77〜99%）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178040" y="379476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 UI" panose="020B0604030504040204" pitchFamily="50" charset="-128"/>
              </a:rPr>
              <a:t>✅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74320" y="4050792"/>
            <a:ext cx="6858000" cy="256032"/>
          </a:xfrm>
          <a:prstGeom prst="rect">
            <a:avLst/>
          </a:prstGeom>
          <a:solidFill>
            <a:srgbClr val="3C33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" y="40507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¥980 × Claude 4.5 Haiku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255264" y="40507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D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可能だが画像込みで薄利（粗利 56〜89%）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178040" y="405079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 UI" panose="020B0604030504040204" pitchFamily="50" charset="-128"/>
              </a:rPr>
              <a:t>✅⚠️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74320" y="4306824"/>
            <a:ext cx="6858000" cy="256032"/>
          </a:xfrm>
          <a:prstGeom prst="rect">
            <a:avLst/>
          </a:prstGeom>
          <a:solidFill>
            <a:srgbClr val="3C1B1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" y="430682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¥980 × Claude Sonnet 4.6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255264" y="43068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D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持続不可能（粗利 8〜66%）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178040" y="4306824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 UI" panose="020B0604030504040204" pitchFamily="50" charset="-128"/>
              </a:rPr>
              <a:t>❌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74320" y="4562856"/>
            <a:ext cx="6858000" cy="256032"/>
          </a:xfrm>
          <a:prstGeom prst="rect">
            <a:avLst/>
          </a:prstGeom>
          <a:solidFill>
            <a:srgbClr val="1B3C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" y="456285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推奨構成（Phase 1〜2）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255264" y="45628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D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Gemini Flash + Nanobanana 2。コスト最優先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178040" y="4562856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 UI" panose="020B0604030504040204" pitchFamily="50" charset="-128"/>
              </a:rPr>
              <a:t>✅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274320" y="4818888"/>
            <a:ext cx="6858000" cy="256032"/>
          </a:xfrm>
          <a:prstGeom prst="rect">
            <a:avLst/>
          </a:prstGeom>
          <a:solidFill>
            <a:srgbClr val="3C33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" y="481888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Sonnet導入時の対応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255264" y="48188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D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¥2,980以上への値上げ or プレミアムティア新設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178040" y="481888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 UI" panose="020B0604030504040204" pitchFamily="50" charset="-128"/>
              </a:rPr>
              <a:t>⚠️</a:t>
            </a:r>
            <a:endParaRPr lang="en-US" sz="1300" dirty="0">
              <a:latin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1004</Words>
  <Application>Microsoft Office PowerPoint</Application>
  <PresentationFormat>画面に合わせる (16:9)</PresentationFormat>
  <Paragraphs>405</Paragraphs>
  <Slides>8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1" baseType="lpstr">
      <vt:lpstr>Meiryo UI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HPB Content Studio — 価格・APIコスト検証</dc:title>
  <dc:subject>PptxGenJS Presentation</dc:subject>
  <dc:creator>PptxGenJS</dc:creator>
  <cp:lastModifiedBy>勇野 安達</cp:lastModifiedBy>
  <cp:revision>2</cp:revision>
  <dcterms:created xsi:type="dcterms:W3CDTF">2026-03-05T08:06:04Z</dcterms:created>
  <dcterms:modified xsi:type="dcterms:W3CDTF">2026-03-05T08:31:13Z</dcterms:modified>
</cp:coreProperties>
</file>