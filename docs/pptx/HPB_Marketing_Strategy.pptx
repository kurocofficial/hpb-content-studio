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939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46304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 Content Studio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マーケティング戦略書</a:t>
            </a:r>
            <a:endParaRPr lang="en-US" sz="4000" dirty="0">
              <a:latin typeface="Meiryo UI" panose="020B0604030504040204" pitchFamily="50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5029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2026年4月〜10月 テストマーケティング〜正式ローンチ</a:t>
            </a:r>
            <a:endParaRPr lang="en-US" sz="1600" dirty="0">
              <a:latin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19202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v1.1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0" y="3931920"/>
            <a:ext cx="19202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931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2026-03-05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3931920"/>
            <a:ext cx="19202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3931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ドラフト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66560" y="3931920"/>
            <a:ext cx="19202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9319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対象: 社内意思決定者</a:t>
            </a:r>
            <a:endParaRPr lang="en-US" sz="11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01  エグゼクティブサマリー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A8D5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EXECUTIVE SUMMARY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プロダクトビジョン：</a:t>
            </a:r>
            <a:r>
              <a:rPr lang="en-US" sz="1400" i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「ブラウザのタブひとつで、HPBの文章運用がすべて完結する世界」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65176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eiryo UI" panose="020B0604030504040204" pitchFamily="50" charset="-128"/>
              </a:rPr>
              <a:t>🏪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12万店舗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HPB掲載美容室数（2025年）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265176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eiryo UI" panose="020B0604030504040204" pitchFamily="50" charset="-128"/>
              </a:rPr>
              <a:t>⏰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月10〜20h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00400" y="27889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集客担当の文章作成負担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51760" cy="137160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Meiryo UI" panose="020B0604030504040204" pitchFamily="50" charset="-128"/>
              </a:rPr>
              <a:t>🎯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3504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競合ほぼゼロ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35040" y="27889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HPB専特化AIライティングツール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5760" y="3337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テストマーケティング期間 KPI（4〜6月）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846320" cy="246888"/>
          </a:xfrm>
          <a:prstGeom prst="rect">
            <a:avLst/>
          </a:prstGeom>
          <a:solidFill>
            <a:srgbClr val="02809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57600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指標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400" y="365760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目標値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3904488"/>
            <a:ext cx="48463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0448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LP累計PV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400" y="390448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1,500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4151376"/>
            <a:ext cx="484632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51376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Free登録数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00400" y="4151376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30人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4398264"/>
            <a:ext cx="484632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98264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Pro転換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00400" y="4398264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3人（転換率10%）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65760" y="4645152"/>
            <a:ext cx="4846320" cy="246888"/>
          </a:xfrm>
          <a:prstGeom prst="rect">
            <a:avLst/>
          </a:prstGeom>
          <a:solidFill>
            <a:srgbClr val="F1F5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4515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Team問い合わせ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200400" y="464515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1件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0" y="3337560"/>
            <a:ext cx="329184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投資規模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577840" y="37490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広告費：</a:t>
            </a:r>
            <a:r>
              <a:rPr lang="en-US" sz="16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</a:t>
            </a:r>
            <a:endParaRPr lang="en-US" sz="110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インフラ実費：</a:t>
            </a:r>
            <a:endParaRPr lang="en-US" sz="110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¥2,300〜5,400/月</a:t>
            </a:r>
            <a:endParaRPr lang="en-US" sz="110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マーケ方針：</a:t>
            </a:r>
            <a:endParaRPr lang="en-US" sz="110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広告費ゼロのインバウンドマーケティング</a:t>
            </a:r>
            <a:endParaRPr lang="en-US" sz="11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02  市場機会・ターゲット分析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MARKET OPPORTUNITY &amp; TARGET ANALYSIS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市場規模（TAM / SAM / SOM）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47472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TAM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約1.4億円/月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17373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12万店舗 × ¥980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2103120"/>
            <a:ext cx="2743200" cy="594360"/>
          </a:xfrm>
          <a:prstGeom prst="rect">
            <a:avLst/>
          </a:prstGeom>
          <a:solidFill>
            <a:srgbClr val="016070"/>
          </a:solidFill>
          <a:ln w="12700">
            <a:solidFill>
              <a:srgbClr val="016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031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SAM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63040" y="21031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約3〜4万店舗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63040" y="24231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HPBアクティブ運用店舗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88720" y="2788920"/>
            <a:ext cx="2011680" cy="59436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7889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SOM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28800" y="27889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100〜300店舗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828800" y="310896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初年度Pro転換ベース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6344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ターゲットペルソナ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114800" cy="1371600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371600"/>
            <a:ext cx="914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ペルソナ A｜集客担当ミキさん（28歳）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17556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役職: </a:t>
            </a:r>
            <a:r>
              <a:rPr lang="en-US" sz="11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レセプション兼集客担当
</a:t>
            </a:r>
            <a:r>
              <a:rPr lang="en-US" sz="11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課題: </a:t>
            </a:r>
            <a:r>
              <a:rPr lang="en-US" sz="11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5人分のブログ更新が毎週の負担
</a:t>
            </a:r>
            <a:r>
              <a:rPr lang="en-US" sz="11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期待: </a:t>
            </a:r>
            <a:r>
              <a:rPr lang="en-US" sz="11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週3時間 → 30分に短縮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63440" y="2880360"/>
            <a:ext cx="4114800" cy="1371600"/>
          </a:xfrm>
          <a:prstGeom prst="rect">
            <a:avLst/>
          </a:prstGeom>
          <a:solidFill>
            <a:srgbClr val="FFF3F1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880360"/>
            <a:ext cx="91440" cy="137160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26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ペルソナ B｜オーナータカシさん（42歳）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46320" y="326440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役職: </a:t>
            </a:r>
            <a:r>
              <a:rPr lang="en-US" sz="11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3店舗オーナー
</a:t>
            </a:r>
            <a:r>
              <a:rPr lang="en-US" sz="11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課題: </a:t>
            </a:r>
            <a:r>
              <a:rPr lang="en-US" sz="11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3店舗分のHPBコンテンツ統一管理
</a:t>
            </a:r>
            <a:r>
              <a:rPr lang="en-US" sz="11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期待: </a:t>
            </a:r>
            <a:r>
              <a:rPr lang="en-US" sz="11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全店舗の品質均一化＋工数削減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主要ペインポイント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828800" y="4663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ブログのネタ切れ・放置 ★★★★★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611880" y="4663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スタイリストの文体統一 ★★★★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94960" y="4663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文字数制限への調整 ★★★★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178040" y="4663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複数店舗のコンテンツ管理 ★★★★★</a:t>
            </a:r>
            <a:endParaRPr lang="en-US" sz="95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03  競合分析・差別化の核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CCC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COMPETITIVE ANALYSIS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103120" cy="32004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サービス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377440" y="1005840"/>
            <a:ext cx="1188720" cy="32004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005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月額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566160" y="1005840"/>
            <a:ext cx="1188720" cy="32004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005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HPB専特化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914400" cy="32004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05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個性化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69280" y="1005840"/>
            <a:ext cx="2926080" cy="32004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005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弱点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1325880"/>
            <a:ext cx="21031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325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GlamAI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377440" y="1325880"/>
            <a:ext cx="11887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¥3,000〜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566160" y="1325880"/>
            <a:ext cx="11887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325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△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91440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3258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×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669280" y="1325880"/>
            <a:ext cx="29260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325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価格高い・HPB専特化でない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169164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STOREPAD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377440" y="169164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1691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¥10,000〜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566160" y="169164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1691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○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54880" y="169164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6916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△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669280" y="1691640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1691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人力中心・高コスト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74320" y="2057400"/>
            <a:ext cx="21031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UNITE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377440" y="2057400"/>
            <a:ext cx="11887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2316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¥5,000〜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566160" y="2057400"/>
            <a:ext cx="11887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△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754880" y="2057400"/>
            <a:ext cx="91440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0574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×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669280" y="2057400"/>
            <a:ext cx="292608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2057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テキスト生成は副次機能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74320" y="242316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ChatGPT直接利用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377440" y="242316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23160" y="2423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¥0〜3,000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566160" y="242316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11880" y="2423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×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754880" y="242316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423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×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669280" y="2423160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2423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文字数制限非対応・手作業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74320" y="2788920"/>
            <a:ext cx="21031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 Content Studio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2377440" y="2788920"/>
            <a:ext cx="1188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23160" y="2788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¥0〜980</a:t>
            </a:r>
            <a:endParaRPr lang="en-US" sz="1600" dirty="0">
              <a:latin typeface="Meiryo UI" panose="020B0604030504040204" pitchFamily="50" charset="-128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3566160" y="2788920"/>
            <a:ext cx="1188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11880" y="2788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◎</a:t>
            </a:r>
            <a:endParaRPr lang="en-US" sz="1600" dirty="0">
              <a:latin typeface="Meiryo UI" panose="020B0604030504040204" pitchFamily="50" charset="-128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4754880" y="2788920"/>
            <a:ext cx="9144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2788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◎</a:t>
            </a:r>
            <a:endParaRPr lang="en-US" sz="1600" dirty="0">
              <a:latin typeface="Meiryo UI" panose="020B0604030504040204" pitchFamily="50" charset="-128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669280" y="2788920"/>
            <a:ext cx="29260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1500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新規サービス・認知度ゼロ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27432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差別化の3本柱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74320" y="3749040"/>
            <a:ext cx="274320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37673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eiryo UI" panose="020B0604030504040204" pitchFamily="50" charset="-128"/>
              </a:rPr>
              <a:t>🎯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27432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HPB専特化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7432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文字数制限内蔵</a:t>
            </a:r>
            <a:endParaRPr lang="en-US" sz="10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HPB風プレビュー</a:t>
            </a:r>
            <a:endParaRPr lang="en-US" sz="10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コピペ最適化UI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3200400" y="3749040"/>
            <a:ext cx="2743200" cy="109728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00400" y="37673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eiryo UI" panose="020B0604030504040204" pitchFamily="50" charset="-128"/>
              </a:rPr>
              <a:t>✨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320040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スタイリスト個性化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320040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得意メニュー・文体</a:t>
            </a:r>
            <a:endParaRPr lang="en-US" sz="10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こだわりを全生成に</a:t>
            </a:r>
            <a:endParaRPr lang="en-US" sz="10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自動反映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126480" y="3749040"/>
            <a:ext cx="2743200" cy="109728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26480" y="37673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eiryo UI" panose="020B0604030504040204" pitchFamily="50" charset="-128"/>
              </a:rPr>
              <a:t>💴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612648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圧倒的価格優位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612648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競合の1/3〜1/10</a:t>
            </a:r>
            <a:endParaRPr lang="en-US" sz="10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¥980/月</a:t>
            </a:r>
            <a:endParaRPr lang="en-US" sz="10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Freeプランで永続利用</a:t>
            </a:r>
            <a:endParaRPr lang="en-US" sz="10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04  マーケティング方針・インバウンドファネル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8D5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MARKETING STRATEGY &amp; FUNNEL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広告費ゼロの3つの理由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438912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438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1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ターゲットが検索で探す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76479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集客担当は「HPB ブログ 書き方」等で検索して情報収集する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423160"/>
            <a:ext cx="41148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423160"/>
            <a:ext cx="438912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23160"/>
            <a:ext cx="438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2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24688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信頼構築が最重要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277063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「規約違反にならないか」が懸念。広告よりコンテンツで信頼を積み上げる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1148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438912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29000"/>
            <a:ext cx="438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3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3474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リソース最適化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77240" y="377647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工数をコンテンツ制作に集中。自社ツール活用で価値も同時に証明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6344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インバウンドファネル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63440" y="1417320"/>
            <a:ext cx="347472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4173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📡 認知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0" y="14173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月500PV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394960" y="1984248"/>
            <a:ext cx="73152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2130552"/>
            <a:ext cx="3017520" cy="566928"/>
          </a:xfrm>
          <a:prstGeom prst="rect">
            <a:avLst/>
          </a:prstGeom>
          <a:solidFill>
            <a:srgbClr val="029BA8"/>
          </a:solidFill>
          <a:ln w="12700">
            <a:solidFill>
              <a:srgbClr val="029B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130552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👁 興味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0" y="2130552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月200 LP訪問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394960" y="2697480"/>
            <a:ext cx="73152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0" y="2843784"/>
            <a:ext cx="2560320" cy="566928"/>
          </a:xfrm>
          <a:prstGeom prst="rect">
            <a:avLst/>
          </a:prstGeom>
          <a:solidFill>
            <a:srgbClr val="02B5BE"/>
          </a:solidFill>
          <a:ln w="12700">
            <a:solidFill>
              <a:srgbClr val="02B5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8437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🔍 検討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0" y="28437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月10人 Free登録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394960" y="3410712"/>
            <a:ext cx="73152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9240" y="3557016"/>
            <a:ext cx="2103120" cy="566928"/>
          </a:xfrm>
          <a:prstGeom prst="rect">
            <a:avLst/>
          </a:prstGeom>
          <a:solidFill>
            <a:srgbClr val="02CFD4"/>
          </a:solidFill>
          <a:ln w="12700">
            <a:solidFill>
              <a:srgbClr val="02CF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35570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💳 購入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00800" y="355701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月1人 Pro転換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394960" y="4123944"/>
            <a:ext cx="73152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4270248"/>
            <a:ext cx="1645920" cy="566928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427024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📣 推奨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0800" y="4270248"/>
            <a:ext cx="822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口コミ・紹介</a:t>
            </a:r>
            <a:endParaRPr lang="en-US" sz="10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05  SEO戦略・チャネル戦略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SEO STRATEGY &amp; CHANNEL STRATEGY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FFF8E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⚠️ SEO重要注意: </a:t>
            </a:r>
            <a:r>
              <a:rPr lang="en-US" sz="12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新規ドメインのSEO効果発現は3〜6ヶ月。4月開設→安定流入は7〜8月以降。4〜6月はSNS拡散・コミュニティ・直接アプローチが主流入経路。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1097280" cy="32004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647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4月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SNS・直接アプローチ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554480" y="1764792"/>
            <a:ext cx="1097280" cy="32004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7647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5月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54480" y="20848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SNS・直接アプローチ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0" y="1764792"/>
            <a:ext cx="1097280" cy="32004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17647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6月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0" y="20848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SNS・直接アプローチ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31920" y="1764792"/>
            <a:ext cx="10972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7647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7月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931920" y="20848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SEO流入期待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120640" y="1764792"/>
            <a:ext cx="10972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7647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8月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20640" y="20848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SEO流入期待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09360" y="1764792"/>
            <a:ext cx="10972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7647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9月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09360" y="20848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SEO流入期待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498080" y="1764792"/>
            <a:ext cx="10972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17647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10月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98080" y="20848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SEO流入期待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4320" y="2468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狙うキーワード（主要）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74320" y="2834640"/>
            <a:ext cx="12344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8346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カテゴリ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554480" y="2834640"/>
            <a:ext cx="24231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28346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キーワード例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023360" y="2834640"/>
            <a:ext cx="10515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28346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検索vol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120640" y="2834640"/>
            <a:ext cx="10515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283464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競合度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274320" y="3108960"/>
            <a:ext cx="12344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3108960"/>
            <a:ext cx="1161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直接ニーズ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554480" y="3108960"/>
            <a:ext cx="24231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91056" y="3108960"/>
            <a:ext cx="2350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 ブログ 書き方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023360" y="3108960"/>
            <a:ext cx="10515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59936" y="3108960"/>
            <a:ext cx="978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500〜1,000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120640" y="3108960"/>
            <a:ext cx="10515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57216" y="3108960"/>
            <a:ext cx="978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中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74320" y="3364992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" y="3364992"/>
            <a:ext cx="1161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554480" y="3364992"/>
            <a:ext cx="2423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91056" y="3364992"/>
            <a:ext cx="2350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ホットペッパービューティー 紹介文 例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023360" y="3364992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59936" y="3364992"/>
            <a:ext cx="978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200〜500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120640" y="3364992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57216" y="3364992"/>
            <a:ext cx="978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低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274320" y="3621024"/>
            <a:ext cx="12344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" y="3621024"/>
            <a:ext cx="1161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課題系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554480" y="3621024"/>
            <a:ext cx="24231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91056" y="3621024"/>
            <a:ext cx="2350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美容室 ブログ ネタ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023360" y="3621024"/>
            <a:ext cx="10515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59936" y="3621024"/>
            <a:ext cx="978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500〜1,000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120640" y="3621024"/>
            <a:ext cx="10515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57216" y="3621024"/>
            <a:ext cx="978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中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274320" y="3877056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" y="3877056"/>
            <a:ext cx="1161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トレンド系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554480" y="3877056"/>
            <a:ext cx="2423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91056" y="3877056"/>
            <a:ext cx="2350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美容室 AI 活用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4023360" y="3877056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59936" y="3877056"/>
            <a:ext cx="978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200〜500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5120640" y="3877056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57216" y="3877056"/>
            <a:ext cx="978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低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274320" y="4133088"/>
            <a:ext cx="12344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0896" y="4133088"/>
            <a:ext cx="1161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比較系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554480" y="4133088"/>
            <a:ext cx="24231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591056" y="4133088"/>
            <a:ext cx="2350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美容室 ブログ代行 比較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4023360" y="4133088"/>
            <a:ext cx="10515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059936" y="4133088"/>
            <a:ext cx="978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100〜200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5120640" y="4133088"/>
            <a:ext cx="10515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57216" y="4133088"/>
            <a:ext cx="9784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中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6309360" y="2468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主要チャネル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6309360" y="2834640"/>
            <a:ext cx="256032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834640"/>
            <a:ext cx="164592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📝 SEOブログ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7955280" y="283464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週1〜2本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6309360" y="3383280"/>
            <a:ext cx="2560320" cy="47548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9360" y="3383280"/>
            <a:ext cx="164592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📓 Note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7955280" y="338328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隔週1本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6309360" y="3931920"/>
            <a:ext cx="2560320" cy="475488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09360" y="3931920"/>
            <a:ext cx="164592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▶️ YouTube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7955280" y="393192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月2本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6309360" y="4480560"/>
            <a:ext cx="2560320" cy="475488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309360" y="4480560"/>
            <a:ext cx="1645920" cy="47548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🐦 Twitter/X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7955280" y="448056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週3〜5投稿</a:t>
            </a:r>
            <a:endParaRPr lang="en-US" sz="10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06  Free→Pro/Team アップセル導線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CCC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UPSELL CONVERSION FLOW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Free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45920" y="10058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¥0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2743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テキスト生成: 月30回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ブログ生成: 月5本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2743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チャット修正: 3往復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スタイリスト: 3名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154680" y="1005840"/>
            <a:ext cx="27432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0058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Pro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26280" y="10058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¥980/月</a:t>
            </a:r>
            <a:endParaRPr lang="en-US" sz="1600" dirty="0">
              <a:latin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154680" y="1600200"/>
            <a:ext cx="2743200" cy="32004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テキスト生成: 無制限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54680" y="1920240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ブログ生成: 無制限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154680" y="2240280"/>
            <a:ext cx="2743200" cy="32004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チャット修正: 20往復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154680" y="2560320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スタイリスト: 20名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35040" y="1005840"/>
            <a:ext cx="2743200" cy="59436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0058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Team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406640" y="10058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個別見積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035040" y="1600200"/>
            <a:ext cx="2743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Pro機能全て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035040" y="1920240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複数店舗管理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035040" y="2240280"/>
            <a:ext cx="274320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メンバー管理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035040" y="2560320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優先サポート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7432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アップセルトリガーポイント（主要）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74320" y="3337560"/>
            <a:ext cx="4206240" cy="420624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33756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①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85800" y="333756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生成回数が月上限の80%到達→バナー表示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246120" y="333756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24回目の生成完了時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74320" y="3813048"/>
            <a:ext cx="4206240" cy="420624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813048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②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85800" y="38130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月上限到達→モーダル「Proなら無制限」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246120" y="381304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30回目の生成完了時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74320" y="4288536"/>
            <a:ext cx="4206240" cy="420624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288536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③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85800" y="4288536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スタイリスト4人目登録試行→Pro誘導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3246120" y="4288536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登録画面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663440" y="3337560"/>
            <a:ext cx="4206240" cy="420624"/>
          </a:xfrm>
          <a:prstGeom prst="rect">
            <a:avLst/>
          </a:prstGeom>
          <a:solidFill>
            <a:srgbClr val="FFF3F1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3337560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④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074920" y="333756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Free登録14日後→「14日間無料トライアル」メール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635240" y="333756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自動メール配信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663440" y="3813048"/>
            <a:ext cx="4206240" cy="420624"/>
          </a:xfrm>
          <a:prstGeom prst="rect">
            <a:avLst/>
          </a:prstGeom>
          <a:solidFill>
            <a:srgbClr val="FFF3F1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3813048"/>
            <a:ext cx="365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⑤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074920" y="381304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Free登録30日後→月間生成レポート+Pro訴求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635240" y="381304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自動メール配信</a:t>
            </a:r>
            <a:endParaRPr lang="en-US" sz="9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07  リスク・対策・予算概算</a:t>
            </a:r>
            <a:endParaRPr lang="en-US" sz="22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888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RISK MANAGEMENT &amp; BUDGET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主要リスクマトリクス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42900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リスク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49040" y="1371600"/>
            <a:ext cx="10515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3716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影響度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10515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716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発生確率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3429000" cy="320040"/>
          </a:xfrm>
          <a:prstGeom prst="rect">
            <a:avLst/>
          </a:prstGeom>
          <a:solidFill>
            <a:srgbClr val="FFD6D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645920"/>
            <a:ext cx="3355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HPBがAIテキストを掲載禁止にする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749040" y="1645920"/>
            <a:ext cx="10515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164592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致命的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46320" y="1645920"/>
            <a:ext cx="10515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164592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低〜中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1965960"/>
            <a:ext cx="3429000" cy="320040"/>
          </a:xfrm>
          <a:prstGeom prst="rect">
            <a:avLst/>
          </a:prstGeom>
          <a:solidFill>
            <a:srgbClr val="FFE9D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965960"/>
            <a:ext cx="3355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テストKPI未達（Free 30人未達）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749040" y="1965960"/>
            <a:ext cx="1051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5616" y="196596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4E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高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46320" y="1965960"/>
            <a:ext cx="1051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196596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中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2286000"/>
            <a:ext cx="3429000" cy="320040"/>
          </a:xfrm>
          <a:prstGeom prst="rect">
            <a:avLst/>
          </a:prstGeom>
          <a:solidFill>
            <a:srgbClr val="FFE9D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" y="2286000"/>
            <a:ext cx="3355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Pro転換率が目標を大幅下回る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749040" y="2286000"/>
            <a:ext cx="10515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5616" y="228600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4E0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高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0" y="2286000"/>
            <a:ext cx="10515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228600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中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2606040"/>
            <a:ext cx="3429000" cy="320040"/>
          </a:xfrm>
          <a:prstGeom prst="rect">
            <a:avLst/>
          </a:prstGeom>
          <a:solidFill>
            <a:srgbClr val="FFF3D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2606040"/>
            <a:ext cx="3355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1人体制のリソース不足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749040" y="2606040"/>
            <a:ext cx="1051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85616" y="260604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中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46320" y="2606040"/>
            <a:ext cx="1051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2896" y="260604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高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74320" y="2926080"/>
            <a:ext cx="3429000" cy="32004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" y="2926080"/>
            <a:ext cx="3355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競合の参入（大手HPB特化リリース）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749040" y="2926080"/>
            <a:ext cx="10515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85616" y="292608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中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846320" y="2926080"/>
            <a:ext cx="10515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2896" y="2926080"/>
            <a:ext cx="978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低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035040" y="1005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予算概算（テストマーケティング期間）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035040" y="1371600"/>
            <a:ext cx="29260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13716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広告費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635240" y="13716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035040" y="1664208"/>
            <a:ext cx="2926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0760" y="16642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Gemini API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635240" y="166420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¥500〜1,500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035040" y="1956816"/>
            <a:ext cx="29260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0760" y="195681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Railway/Render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7635240" y="19568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¥1,000〜2,000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035040" y="2249424"/>
            <a:ext cx="2926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80760" y="22494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Google Workspace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635240" y="224942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¥680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035040" y="2542032"/>
            <a:ext cx="29260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80760" y="2542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ドメイン・DNS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635240" y="25420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¥100〜200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035040" y="2834640"/>
            <a:ext cx="2926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80760" y="28346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その他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635240" y="28346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¥0〜1,000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035040" y="3127248"/>
            <a:ext cx="29260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80760" y="312724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合計（インフラ実費）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726680" y="31272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¥2,280〜5,380/月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収益シミュレーション（6月末時点）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274320" y="3886200"/>
            <a:ext cx="164592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886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シナリオ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1965960" y="3886200"/>
            <a:ext cx="10515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65960" y="38862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Free登録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063240" y="3886200"/>
            <a:ext cx="10515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063240" y="38862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Pro転換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4160520" y="3886200"/>
            <a:ext cx="219456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60520" y="38862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MRR（6月末）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6400800" y="3886200"/>
            <a:ext cx="2468880" cy="27432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0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3ヶ月累計売上</a:t>
            </a:r>
            <a:endParaRPr lang="en-US" sz="950" dirty="0">
              <a:latin typeface="Meiryo UI" panose="020B0604030504040204" pitchFamily="50" charset="-128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74320" y="4160520"/>
            <a:ext cx="1645920" cy="301752"/>
          </a:xfrm>
          <a:prstGeom prst="rect">
            <a:avLst/>
          </a:prstGeom>
          <a:solidFill>
            <a:srgbClr val="64748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416052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保守的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965960" y="4160520"/>
            <a:ext cx="105156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002536" y="4160520"/>
            <a:ext cx="978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15人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3063240" y="4160520"/>
            <a:ext cx="105156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099816" y="4160520"/>
            <a:ext cx="978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1人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4160520" y="4160520"/>
            <a:ext cx="219456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97096" y="4160520"/>
            <a:ext cx="2121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¥980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6400800" y="4160520"/>
            <a:ext cx="2468880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37376" y="4160520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¥1,960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274320" y="4462272"/>
            <a:ext cx="1645920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446227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基本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1965960" y="4462272"/>
            <a:ext cx="1051560" cy="301752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02536" y="4462272"/>
            <a:ext cx="978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30人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3063240" y="4462272"/>
            <a:ext cx="1051560" cy="301752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099816" y="4462272"/>
            <a:ext cx="978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3人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4160520" y="4462272"/>
            <a:ext cx="2194560" cy="301752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197096" y="4462272"/>
            <a:ext cx="2121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¥2,940+Team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6400800" y="4462272"/>
            <a:ext cx="2468880" cy="301752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437376" y="4462272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¥5,880+Team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274320" y="4764024"/>
            <a:ext cx="1645920" cy="301752"/>
          </a:xfrm>
          <a:prstGeom prst="rect">
            <a:avLst/>
          </a:prstGeom>
          <a:solidFill>
            <a:srgbClr val="2E7D3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476402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楽観的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1965960" y="4764024"/>
            <a:ext cx="1051560" cy="301752"/>
          </a:xfrm>
          <a:prstGeom prst="rect">
            <a:avLst/>
          </a:prstGeom>
          <a:solidFill>
            <a:srgbClr val="E6F4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002536" y="4764024"/>
            <a:ext cx="978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50人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3063240" y="4764024"/>
            <a:ext cx="1051560" cy="301752"/>
          </a:xfrm>
          <a:prstGeom prst="rect">
            <a:avLst/>
          </a:prstGeom>
          <a:solidFill>
            <a:srgbClr val="E6F4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099816" y="4764024"/>
            <a:ext cx="978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7人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4160520" y="4764024"/>
            <a:ext cx="2194560" cy="301752"/>
          </a:xfrm>
          <a:prstGeom prst="rect">
            <a:avLst/>
          </a:prstGeom>
          <a:solidFill>
            <a:srgbClr val="E6F4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197096" y="4764024"/>
            <a:ext cx="2121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¥6,860+Team</a:t>
            </a:r>
            <a:endParaRPr lang="en-US" sz="1050" dirty="0">
              <a:latin typeface="Meiryo UI" panose="020B0604030504040204" pitchFamily="50" charset="-128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6400800" y="4764024"/>
            <a:ext cx="2468880" cy="301752"/>
          </a:xfrm>
          <a:prstGeom prst="rect">
            <a:avLst/>
          </a:prstGeom>
          <a:solidFill>
            <a:srgbClr val="E6F4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437376" y="4764024"/>
            <a:ext cx="23957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¥13,720+Team</a:t>
            </a:r>
            <a:endParaRPr lang="en-US" sz="105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08  ロードマップ（2026年4〜10月）</a:t>
            </a:r>
            <a:endParaRPr lang="en-US" sz="20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8D5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MARKETING ROADMAP</a:t>
            </a:r>
            <a:endParaRPr lang="en-US" sz="900" dirty="0">
              <a:latin typeface="Meiryo UI" panose="020B0604030504040204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657600" cy="64008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フェーズ1</a:t>
            </a:r>
            <a:endParaRPr lang="en-US" sz="13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テストマーケティング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2651760" y="10058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4〜6月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0" y="1005840"/>
            <a:ext cx="475488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005840"/>
            <a:ext cx="3090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フェーズ2</a:t>
            </a:r>
            <a:endParaRPr lang="en-US" sz="13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正式ローンチ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205472" y="1005840"/>
            <a:ext cx="1664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7〜10月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1755648"/>
            <a:ext cx="1143000" cy="292608"/>
          </a:xfrm>
          <a:prstGeom prst="rect">
            <a:avLst/>
          </a:prstGeom>
          <a:solidFill>
            <a:srgbClr val="FFE8E4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556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4月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463040" y="1755648"/>
            <a:ext cx="1143000" cy="292608"/>
          </a:xfrm>
          <a:prstGeom prst="rect">
            <a:avLst/>
          </a:prstGeom>
          <a:solidFill>
            <a:srgbClr val="FFE8E4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17556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5月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51760" y="1755648"/>
            <a:ext cx="1143000" cy="292608"/>
          </a:xfrm>
          <a:prstGeom prst="rect">
            <a:avLst/>
          </a:prstGeom>
          <a:solidFill>
            <a:srgbClr val="FFE8E4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7556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6月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840480" y="1755648"/>
            <a:ext cx="1143000" cy="292608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17556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7月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9200" y="1755648"/>
            <a:ext cx="1143000" cy="292608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7556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8月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17920" y="1755648"/>
            <a:ext cx="1143000" cy="292608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7556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9月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06640" y="1755648"/>
            <a:ext cx="1143000" cy="292608"/>
          </a:xfrm>
          <a:prstGeom prst="rect">
            <a:avLst/>
          </a:prstGeom>
          <a:solidFill>
            <a:srgbClr val="E6F4F6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75564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10月</a:t>
            </a:r>
            <a:endParaRPr lang="en-US" sz="1200" dirty="0">
              <a:latin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2148840"/>
            <a:ext cx="1143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4884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コンテンツ制作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463040" y="2148840"/>
            <a:ext cx="1143000" cy="914400"/>
          </a:xfrm>
          <a:prstGeom prst="rect">
            <a:avLst/>
          </a:prstGeom>
          <a:solidFill>
            <a:srgbClr val="FFF8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99616" y="219456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ブログ2本/週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Note記事を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ブログからリライト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651760" y="2148840"/>
            <a:ext cx="1143000" cy="914400"/>
          </a:xfrm>
          <a:prstGeom prst="rect">
            <a:avLst/>
          </a:prstGeom>
          <a:solidFill>
            <a:srgbClr val="FFF8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88336" y="219456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SEO効果測定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コンテンツ改善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開始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840480" y="2148840"/>
            <a:ext cx="11430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77056" y="219456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SEO流入増加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キーワード拡張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029200" y="2148840"/>
            <a:ext cx="11430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219456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成功事例コンテンツ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強化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17920" y="2148840"/>
            <a:ext cx="11430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219456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動画シリーズ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本格展開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06640" y="2148840"/>
            <a:ext cx="11430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43216" y="219456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ローンチ記念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特集コンテンツ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463040" y="2148840"/>
            <a:ext cx="1143000" cy="914400"/>
          </a:xfrm>
          <a:prstGeom prst="rect">
            <a:avLst/>
          </a:prstGeom>
          <a:solidFill>
            <a:srgbClr val="FFF8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99616" y="219456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ブログ2本/週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Note記事を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ブログからリライト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74320" y="3108960"/>
            <a:ext cx="1143000" cy="9144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10896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プロダクト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463040" y="3108960"/>
            <a:ext cx="1143000" cy="914400"/>
          </a:xfrm>
          <a:prstGeom prst="rect">
            <a:avLst/>
          </a:prstGeom>
          <a:solidFill>
            <a:srgbClr val="FFF8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99616" y="315468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Free→Pro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アップセルUI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実装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2651760" y="3108960"/>
            <a:ext cx="1143000" cy="914400"/>
          </a:xfrm>
          <a:prstGeom prst="rect">
            <a:avLst/>
          </a:prstGeom>
          <a:solidFill>
            <a:srgbClr val="FFF8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88336" y="315468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ユーザー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フィードバック反映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FAQ充実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840480" y="3108960"/>
            <a:ext cx="11430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77056" y="315468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Phase2機能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検討開始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口コミ返信AI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029200" y="3108960"/>
            <a:ext cx="11430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65776" y="315468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Teamプラン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正式展開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217920" y="3108960"/>
            <a:ext cx="11430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54496" y="315468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Phase2機能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リリース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406640" y="3108960"/>
            <a:ext cx="11430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43216" y="315468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正式ローンチ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発表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463040" y="3108960"/>
            <a:ext cx="1143000" cy="914400"/>
          </a:xfrm>
          <a:prstGeom prst="rect">
            <a:avLst/>
          </a:prstGeom>
          <a:solidFill>
            <a:srgbClr val="FFF8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499616" y="315468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Free→Pro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アップセルUI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実装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274320" y="4069080"/>
            <a:ext cx="1143000" cy="91440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06908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KPI目標</a:t>
            </a:r>
            <a:endParaRPr lang="en-US" sz="1100" dirty="0">
              <a:latin typeface="Meiryo UI" panose="020B0604030504040204" pitchFamily="50" charset="-128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463040" y="4069080"/>
            <a:ext cx="1143000" cy="914400"/>
          </a:xfrm>
          <a:prstGeom prst="rect">
            <a:avLst/>
          </a:prstGeom>
          <a:solidFill>
            <a:srgbClr val="FFF8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99616" y="411480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LP PV: 600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Free登録: 15人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2651760" y="4069080"/>
            <a:ext cx="1143000" cy="914400"/>
          </a:xfrm>
          <a:prstGeom prst="rect">
            <a:avLst/>
          </a:prstGeom>
          <a:solidFill>
            <a:srgbClr val="FFF8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688336" y="411480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LP PV: 1,500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Free: 30人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Pro: 3人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3840480" y="4069080"/>
            <a:ext cx="11430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77056" y="411480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月PV: 1,000+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Free+5人/月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029200" y="4069080"/>
            <a:ext cx="11430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65776" y="411480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SEO安定流入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Pro転換継続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6217920" y="4069080"/>
            <a:ext cx="11430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54496" y="411480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MRR成長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継続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7406640" y="4069080"/>
            <a:ext cx="1143000" cy="914400"/>
          </a:xfrm>
          <a:prstGeom prst="rect">
            <a:avLst/>
          </a:prstGeom>
          <a:solidFill>
            <a:srgbClr val="E6F4F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43216" y="411480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累計Free: 100人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Pro: 20人</a:t>
            </a:r>
            <a:endParaRPr lang="en-US" sz="850" dirty="0">
              <a:latin typeface="Meiryo UI" panose="020B0604030504040204" pitchFamily="50" charset="-128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1463040" y="4069080"/>
            <a:ext cx="1143000" cy="914400"/>
          </a:xfrm>
          <a:prstGeom prst="rect">
            <a:avLst/>
          </a:prstGeom>
          <a:solidFill>
            <a:srgbClr val="FFF8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499616" y="4114800"/>
            <a:ext cx="1069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LP PV: 600</a:t>
            </a:r>
            <a:endParaRPr lang="en-US" sz="850" dirty="0">
              <a:latin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Free登録: 15人</a:t>
            </a:r>
            <a:endParaRPr lang="en-US" sz="85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8614E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まとめ・ネクストアクション</a:t>
            </a:r>
            <a:endParaRPr lang="en-US" sz="3000" dirty="0">
              <a:latin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FFCCC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SUMMARY &amp; NEXT ACTIONS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「HPBのブログ・紹介文・プロフィール、ぜんぶAIが下書き。コピーして貼るだけ。」</a:t>
            </a:r>
            <a:endParaRPr lang="en-US" sz="1600" dirty="0">
              <a:latin typeface="Meiryo UI" panose="020B0604030504040204" pitchFamily="50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2743200" cy="1371600"/>
          </a:xfrm>
          <a:prstGeom prst="rect">
            <a:avLst/>
          </a:prstGeom>
          <a:solidFill>
            <a:srgbClr val="1E3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eiryo UI" panose="020B0604030504040204" pitchFamily="50" charset="-128"/>
              </a:rPr>
              <a:t>🎯</a:t>
            </a:r>
            <a:endParaRPr lang="en-US" sz="2400" dirty="0">
              <a:latin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HPB専特化×個性化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HPB文字数制限・スタイリスト個性化</a:t>
            </a:r>
            <a:endParaRPr lang="en-US" sz="10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競合にないポジションを確立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46120" y="2377440"/>
            <a:ext cx="2743200" cy="1371600"/>
          </a:xfrm>
          <a:prstGeom prst="rect">
            <a:avLst/>
          </a:prstGeom>
          <a:solidFill>
            <a:srgbClr val="1E3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eiryo UI" panose="020B0604030504040204" pitchFamily="50" charset="-128"/>
              </a:rPr>
              <a:t>📈</a:t>
            </a:r>
            <a:endParaRPr lang="en-US" sz="2400" dirty="0">
              <a:latin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4612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広告費ゼロ戦略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46120" y="3154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SEO・YouTube・Noteの</a:t>
            </a:r>
            <a:endParaRPr lang="en-US" sz="10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インバウンドマーケティング一本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26480" y="2377440"/>
            <a:ext cx="2743200" cy="1371600"/>
          </a:xfrm>
          <a:prstGeom prst="rect">
            <a:avLst/>
          </a:prstGeom>
          <a:solidFill>
            <a:srgbClr val="1E3A4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eiryo UI" panose="020B0604030504040204" pitchFamily="50" charset="-128"/>
              </a:rPr>
              <a:t>💴</a:t>
            </a:r>
            <a:endParaRPr lang="en-US" sz="2400" dirty="0">
              <a:latin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2648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Georgia" pitchFamily="34" charset="-120"/>
              </a:rPr>
              <a:t>¥980の圧倒的価格</a:t>
            </a:r>
            <a:endParaRPr lang="en-US" sz="1300" dirty="0">
              <a:latin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26480" y="3154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競合の1/3〜1/10</a:t>
            </a:r>
            <a:endParaRPr lang="en-US" sz="1000" dirty="0">
              <a:latin typeface="Meiryo UI" panose="020B0604030504040204" pitchFamily="50" charset="-128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C8D8D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集客担当が自分で決裁できる価格帯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576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ネクストアクション</a:t>
            </a:r>
            <a:endParaRPr lang="en-US" sz="1400" dirty="0">
              <a:latin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4114800" cy="310896"/>
          </a:xfrm>
          <a:prstGeom prst="rect">
            <a:avLst/>
          </a:prstGeom>
          <a:solidFill>
            <a:srgbClr val="1E3A42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5196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即時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25880" y="425196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人件費確定・ドメイン取得・LP公開準備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4114800" cy="310896"/>
          </a:xfrm>
          <a:prstGeom prst="rect">
            <a:avLst/>
          </a:prstGeom>
          <a:solidFill>
            <a:srgbClr val="1E3A42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177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4月上旬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25880" y="461772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SEOブログ第1弾公開・Note執筆開始・YouTube収録開始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63440" y="4251960"/>
            <a:ext cx="4114800" cy="310896"/>
          </a:xfrm>
          <a:prstGeom prst="rect">
            <a:avLst/>
          </a:prstGeom>
          <a:solidFill>
            <a:srgbClr val="1E3A42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25196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4月中旬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623560" y="425196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ドッグフーディング開始・FAQ整備・問い合わせ対応体制構築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4617720"/>
            <a:ext cx="4114800" cy="310896"/>
          </a:xfrm>
          <a:prstGeom prst="rect">
            <a:avLst/>
          </a:prstGeom>
          <a:solidFill>
            <a:srgbClr val="1E3A42"/>
          </a:solidFill>
          <a:ln w="12700">
            <a:solidFill>
              <a:srgbClr val="E861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46177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14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6月末</a:t>
            </a:r>
            <a:endParaRPr lang="en-US" sz="1000" dirty="0">
              <a:latin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23560" y="4617720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alibri" pitchFamily="34" charset="-120"/>
              </a:rPr>
              <a:t>テストマーケティングKPI検証→正式ローンチ判断</a:t>
            </a:r>
            <a:endParaRPr lang="en-US" sz="1000" dirty="0">
              <a:latin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962</Words>
  <Application>Microsoft Office PowerPoint</Application>
  <PresentationFormat>画面に合わせる (16:9)</PresentationFormat>
  <Paragraphs>374</Paragraphs>
  <Slides>10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HPB Content Studio マーケティング戦略書</dc:title>
  <dc:subject>PptxGenJS Presentation</dc:subject>
  <dc:creator>PptxGenJS</dc:creator>
  <cp:lastModifiedBy>勇野 安達</cp:lastModifiedBy>
  <cp:revision>2</cp:revision>
  <dcterms:created xsi:type="dcterms:W3CDTF">2026-03-05T03:47:03Z</dcterms:created>
  <dcterms:modified xsi:type="dcterms:W3CDTF">2026-03-05T14:55:02Z</dcterms:modified>
</cp:coreProperties>
</file>